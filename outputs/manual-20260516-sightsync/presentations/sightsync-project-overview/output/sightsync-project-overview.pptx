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4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B5F4EEEF-E6CE-4AF5-8994-ADA36B2B946A}"/>
              </a:ext>
            </a:extLst>
          </p:cNvPr>
          <p:cNvSpPr>
            <a:spLocks noGrp="1"/>
          </p:cNvSpPr>
          <p:nvPr/>
        </p:nvSpPr>
        <p:spPr>
          <a:xfrm>
            <a:off x="0" y="0"/>
            <a:ext cx="12192000" cy="6858000"/>
          </a:xfrm>
          <a:prstGeom prst="rect">
            <a:avLst/>
          </a:prstGeom>
          <a:solidFill>
            <a:srgbClr val="07111F"/>
          </a:solidFill>
          <a:ln w="0">
            <a:solidFill>
              <a:srgbClr val="000000">
                <a:alpha val="0"/>
              </a:srgbClr>
            </a:solidFill>
            <a:prstDash val="solid"/>
          </a:ln>
        </p:spPr>
      </p:sp>
      <p:sp>
        <p:nvSpPr>
          <p:cNvPr id="2" name="Rectangle 1">
            <a:extLst>
              <a:ext uri="{FF2B5EF4-FFF2-40B4-BE49-F238E27FC236}">
                <a16:creationId xmlns:a16="http://schemas.microsoft.com/office/drawing/2014/main" id="{639A0A98-D16D-4BDC-8951-5977AAE2CBD5}"/>
              </a:ext>
            </a:extLst>
          </p:cNvPr>
          <p:cNvSpPr>
            <a:spLocks noGrp="1"/>
          </p:cNvSpPr>
          <p:nvPr/>
        </p:nvSpPr>
        <p:spPr>
          <a:xfrm>
            <a:off x="0" y="0"/>
            <a:ext cx="12192000" cy="1790700"/>
          </a:xfrm>
          <a:prstGeom prst="rect">
            <a:avLst/>
          </a:prstGeom>
          <a:solidFill>
            <a:srgbClr val="0A1730"/>
          </a:solidFill>
          <a:ln w="0">
            <a:solidFill>
              <a:srgbClr val="000000">
                <a:alpha val="0"/>
              </a:srgbClr>
            </a:solidFill>
            <a:prstDash val="solid"/>
          </a:ln>
        </p:spPr>
      </p:sp>
      <p:sp>
        <p:nvSpPr>
          <p:cNvPr id="3" name="Rectangle 2">
            <a:extLst>
              <a:ext uri="{FF2B5EF4-FFF2-40B4-BE49-F238E27FC236}">
                <a16:creationId xmlns:a16="http://schemas.microsoft.com/office/drawing/2014/main" id="{3795A830-E5AA-4E6E-9872-8750161010C0}"/>
              </a:ext>
            </a:extLst>
          </p:cNvPr>
          <p:cNvSpPr>
            <a:spLocks noGrp="1"/>
          </p:cNvSpPr>
          <p:nvPr/>
        </p:nvSpPr>
        <p:spPr>
          <a:xfrm>
            <a:off x="9144000" y="0"/>
            <a:ext cx="3048000" cy="6858000"/>
          </a:xfrm>
          <a:prstGeom prst="rect">
            <a:avLst/>
          </a:prstGeom>
          <a:solidFill>
            <a:srgbClr val="081523"/>
          </a:solidFill>
          <a:ln w="0">
            <a:solidFill>
              <a:srgbClr val="000000">
                <a:alpha val="0"/>
              </a:srgbClr>
            </a:solidFill>
            <a:prstDash val="solid"/>
          </a:ln>
        </p:spPr>
      </p:sp>
      <p:sp>
        <p:nvSpPr>
          <p:cNvPr id="4" name="Rectangle 3">
            <a:extLst>
              <a:ext uri="{FF2B5EF4-FFF2-40B4-BE49-F238E27FC236}">
                <a16:creationId xmlns:a16="http://schemas.microsoft.com/office/drawing/2014/main" id="{BE4ADE03-A798-4B95-A5CD-7B40640D4A84}"/>
              </a:ext>
            </a:extLst>
          </p:cNvPr>
          <p:cNvSpPr>
            <a:spLocks noGrp="1"/>
          </p:cNvSpPr>
          <p:nvPr/>
        </p:nvSpPr>
        <p:spPr>
          <a:xfrm>
            <a:off x="609600" y="457200"/>
            <a:ext cx="95250" cy="95250"/>
          </a:xfrm>
          <a:prstGeom prst="rect">
            <a:avLst/>
          </a:prstGeom>
          <a:solidFill>
            <a:srgbClr val="30D5C8"/>
          </a:solidFill>
          <a:ln w="0">
            <a:solidFill>
              <a:srgbClr val="000000">
                <a:alpha val="0"/>
              </a:srgbClr>
            </a:solidFill>
            <a:prstDash val="solid"/>
          </a:ln>
        </p:spPr>
      </p:sp>
      <p:sp>
        <p:nvSpPr>
          <p:cNvPr id="5" name="Rectangle 4">
            <a:extLst>
              <a:ext uri="{FF2B5EF4-FFF2-40B4-BE49-F238E27FC236}">
                <a16:creationId xmlns:a16="http://schemas.microsoft.com/office/drawing/2014/main" id="{459F1B6A-17C5-4FB8-A479-451F7F06ED51}"/>
              </a:ext>
            </a:extLst>
          </p:cNvPr>
          <p:cNvSpPr>
            <a:spLocks noGrp="1"/>
          </p:cNvSpPr>
          <p:nvPr/>
        </p:nvSpPr>
        <p:spPr>
          <a:xfrm>
            <a:off x="800100" y="409575"/>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9FB3C8"/>
                </a:solidFill>
                <a:latin typeface="Aptos"/>
                <a:ea typeface="Aptos"/>
                <a:cs typeface="Aptos"/>
              </a:defRPr>
            </a:pPr>
            <a:r>
              <a:rPr sz="750" b="1">
                <a:solidFill>
                  <a:srgbClr val="9FB3C8"/>
                </a:solidFill>
                <a:latin typeface="Aptos"/>
                <a:ea typeface="Aptos"/>
                <a:cs typeface="Aptos"/>
              </a:rPr>
              <a:t>PROJECT OVERVIEW</a:t>
            </a:r>
          </a:p>
        </p:txBody>
      </p:sp>
      <p:sp>
        <p:nvSpPr>
          <p:cNvPr id="6" name="Rectangle 5">
            <a:extLst>
              <a:ext uri="{FF2B5EF4-FFF2-40B4-BE49-F238E27FC236}">
                <a16:creationId xmlns:a16="http://schemas.microsoft.com/office/drawing/2014/main" id="{F5A1E2C7-13BD-4956-B6BD-ECAFB6D08C46}"/>
              </a:ext>
            </a:extLst>
          </p:cNvPr>
          <p:cNvSpPr>
            <a:spLocks noGrp="1"/>
          </p:cNvSpPr>
          <p:nvPr/>
        </p:nvSpPr>
        <p:spPr>
          <a:xfrm>
            <a:off x="609600" y="742950"/>
            <a:ext cx="7239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FFFFF"/>
                </a:solidFill>
                <a:latin typeface="Aptos Display"/>
                <a:ea typeface="Aptos Display"/>
                <a:cs typeface="Aptos Display"/>
              </a:defRPr>
            </a:pPr>
            <a:r>
              <a:rPr sz="2475" b="1">
                <a:solidFill>
                  <a:srgbClr val="FFFFFF"/>
                </a:solidFill>
                <a:latin typeface="Aptos Display"/>
                <a:ea typeface="Aptos Display"/>
                <a:cs typeface="Aptos Display"/>
              </a:rPr>
              <a:t>SightSync turns a phone camera into a live scene description assistant.</a:t>
            </a:r>
          </a:p>
        </p:txBody>
      </p:sp>
      <p:sp>
        <p:nvSpPr>
          <p:cNvPr id="7" name="Rectangle 6">
            <a:extLst>
              <a:ext uri="{FF2B5EF4-FFF2-40B4-BE49-F238E27FC236}">
                <a16:creationId xmlns:a16="http://schemas.microsoft.com/office/drawing/2014/main" id="{CECF923B-EF8C-454B-B6C4-8B2F51BDA75A}"/>
              </a:ext>
            </a:extLst>
          </p:cNvPr>
          <p:cNvSpPr>
            <a:spLocks noGrp="1"/>
          </p:cNvSpPr>
          <p:nvPr/>
        </p:nvSpPr>
        <p:spPr>
          <a:xfrm>
            <a:off x="609600" y="1771650"/>
            <a:ext cx="497205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9FB3C8"/>
                </a:solidFill>
                <a:latin typeface="Aptos"/>
                <a:ea typeface="Aptos"/>
                <a:cs typeface="Aptos"/>
              </a:defRPr>
            </a:pPr>
            <a:r>
              <a:rPr sz="1200" b="0">
                <a:solidFill>
                  <a:srgbClr val="9FB3C8"/>
                </a:solidFill>
                <a:latin typeface="Aptos"/>
                <a:ea typeface="Aptos"/>
                <a:cs typeface="Aptos"/>
              </a:rPr>
              <a:t>A lightweight accessibility app for blind and low-vision users that captures the scene, asks a multimodal model for a concise description, and speaks back only when the moment matters.</a:t>
            </a:r>
          </a:p>
        </p:txBody>
      </p:sp>
      <p:sp>
        <p:nvSpPr>
          <p:cNvPr id="8" name="Rectangle 7">
            <a:extLst>
              <a:ext uri="{FF2B5EF4-FFF2-40B4-BE49-F238E27FC236}">
                <a16:creationId xmlns:a16="http://schemas.microsoft.com/office/drawing/2014/main" id="{514AEE79-0229-4954-A4E6-74CDC90A33D3}"/>
              </a:ext>
            </a:extLst>
          </p:cNvPr>
          <p:cNvSpPr>
            <a:spLocks noGrp="1"/>
          </p:cNvSpPr>
          <p:nvPr/>
        </p:nvSpPr>
        <p:spPr>
          <a:xfrm>
            <a:off x="609600" y="2800350"/>
            <a:ext cx="1276350" cy="266700"/>
          </a:xfrm>
          <a:prstGeom prst="rect">
            <a:avLst/>
          </a:prstGeom>
          <a:solidFill>
            <a:srgbClr val="183B57"/>
          </a:solidFill>
          <a:ln w="9525">
            <a:solidFill>
              <a:srgbClr val="183B57"/>
            </a:solidFill>
            <a:prstDash val="solid"/>
          </a:ln>
        </p:spPr>
      </p:sp>
      <p:sp>
        <p:nvSpPr>
          <p:cNvPr id="9" name="Rectangle 8">
            <a:extLst>
              <a:ext uri="{FF2B5EF4-FFF2-40B4-BE49-F238E27FC236}">
                <a16:creationId xmlns:a16="http://schemas.microsoft.com/office/drawing/2014/main" id="{1F1B42F9-673A-4AE7-9AC3-BC949BFAD53C}"/>
              </a:ext>
            </a:extLst>
          </p:cNvPr>
          <p:cNvSpPr>
            <a:spLocks noGrp="1"/>
          </p:cNvSpPr>
          <p:nvPr/>
        </p:nvSpPr>
        <p:spPr>
          <a:xfrm>
            <a:off x="704850" y="2857500"/>
            <a:ext cx="10858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FFFFFF"/>
                </a:solidFill>
                <a:latin typeface="Aptos"/>
                <a:ea typeface="Aptos"/>
                <a:cs typeface="Aptos"/>
              </a:defRPr>
            </a:pPr>
            <a:r>
              <a:rPr sz="713" b="1">
                <a:solidFill>
                  <a:srgbClr val="FFFFFF"/>
                </a:solidFill>
                <a:latin typeface="Aptos"/>
                <a:ea typeface="Aptos"/>
                <a:cs typeface="Aptos"/>
              </a:rPr>
              <a:t>ACCESSIBILITY-FIRST</a:t>
            </a:r>
          </a:p>
        </p:txBody>
      </p:sp>
      <p:sp>
        <p:nvSpPr>
          <p:cNvPr id="10" name="Rectangle 9">
            <a:extLst>
              <a:ext uri="{FF2B5EF4-FFF2-40B4-BE49-F238E27FC236}">
                <a16:creationId xmlns:a16="http://schemas.microsoft.com/office/drawing/2014/main" id="{470326CE-98CB-4460-B272-E64016712C86}"/>
              </a:ext>
            </a:extLst>
          </p:cNvPr>
          <p:cNvSpPr>
            <a:spLocks noGrp="1"/>
          </p:cNvSpPr>
          <p:nvPr/>
        </p:nvSpPr>
        <p:spPr>
          <a:xfrm>
            <a:off x="1981200" y="2800350"/>
            <a:ext cx="1200150" cy="266700"/>
          </a:xfrm>
          <a:prstGeom prst="rect">
            <a:avLst/>
          </a:prstGeom>
          <a:solidFill>
            <a:srgbClr val="133D47"/>
          </a:solidFill>
          <a:ln w="9525">
            <a:solidFill>
              <a:srgbClr val="133D47"/>
            </a:solidFill>
            <a:prstDash val="solid"/>
          </a:ln>
        </p:spPr>
      </p:sp>
      <p:sp>
        <p:nvSpPr>
          <p:cNvPr id="11" name="Rectangle 10">
            <a:extLst>
              <a:ext uri="{FF2B5EF4-FFF2-40B4-BE49-F238E27FC236}">
                <a16:creationId xmlns:a16="http://schemas.microsoft.com/office/drawing/2014/main" id="{FD9EAA95-5307-4CB3-8C4C-4B7E74C1B328}"/>
              </a:ext>
            </a:extLst>
          </p:cNvPr>
          <p:cNvSpPr>
            <a:spLocks noGrp="1"/>
          </p:cNvSpPr>
          <p:nvPr/>
        </p:nvSpPr>
        <p:spPr>
          <a:xfrm>
            <a:off x="2076450" y="2857500"/>
            <a:ext cx="10096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FFFFFF"/>
                </a:solidFill>
                <a:latin typeface="Aptos"/>
                <a:ea typeface="Aptos"/>
                <a:cs typeface="Aptos"/>
              </a:defRPr>
            </a:pPr>
            <a:r>
              <a:rPr sz="713" b="1">
                <a:solidFill>
                  <a:srgbClr val="FFFFFF"/>
                </a:solidFill>
                <a:latin typeface="Aptos"/>
                <a:ea typeface="Aptos"/>
                <a:cs typeface="Aptos"/>
              </a:rPr>
              <a:t>VOICE + CAMERA</a:t>
            </a:r>
          </a:p>
        </p:txBody>
      </p:sp>
      <p:sp>
        <p:nvSpPr>
          <p:cNvPr id="12" name="Rectangle 11">
            <a:extLst>
              <a:ext uri="{FF2B5EF4-FFF2-40B4-BE49-F238E27FC236}">
                <a16:creationId xmlns:a16="http://schemas.microsoft.com/office/drawing/2014/main" id="{98BCD63E-0549-4BA7-B345-176CCDD9E457}"/>
              </a:ext>
            </a:extLst>
          </p:cNvPr>
          <p:cNvSpPr>
            <a:spLocks noGrp="1"/>
          </p:cNvSpPr>
          <p:nvPr/>
        </p:nvSpPr>
        <p:spPr>
          <a:xfrm>
            <a:off x="3276600" y="2800350"/>
            <a:ext cx="1504950" cy="266700"/>
          </a:xfrm>
          <a:prstGeom prst="rect">
            <a:avLst/>
          </a:prstGeom>
          <a:solidFill>
            <a:srgbClr val="2A2666"/>
          </a:solidFill>
          <a:ln w="9525">
            <a:solidFill>
              <a:srgbClr val="2A2666"/>
            </a:solidFill>
            <a:prstDash val="solid"/>
          </a:ln>
        </p:spPr>
      </p:sp>
      <p:sp>
        <p:nvSpPr>
          <p:cNvPr id="13" name="Rectangle 12">
            <a:extLst>
              <a:ext uri="{FF2B5EF4-FFF2-40B4-BE49-F238E27FC236}">
                <a16:creationId xmlns:a16="http://schemas.microsoft.com/office/drawing/2014/main" id="{74E4844E-0610-46EB-BE1E-477F8A0A6A09}"/>
              </a:ext>
            </a:extLst>
          </p:cNvPr>
          <p:cNvSpPr>
            <a:spLocks noGrp="1"/>
          </p:cNvSpPr>
          <p:nvPr/>
        </p:nvSpPr>
        <p:spPr>
          <a:xfrm>
            <a:off x="3371850" y="2857500"/>
            <a:ext cx="13144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1">
                <a:solidFill>
                  <a:srgbClr val="FFFFFF"/>
                </a:solidFill>
                <a:latin typeface="Aptos"/>
                <a:ea typeface="Aptos"/>
                <a:cs typeface="Aptos"/>
              </a:defRPr>
            </a:pPr>
            <a:r>
              <a:rPr sz="713" b="1">
                <a:solidFill>
                  <a:srgbClr val="FFFFFF"/>
                </a:solidFill>
                <a:latin typeface="Aptos"/>
                <a:ea typeface="Aptos"/>
                <a:cs typeface="Aptos"/>
              </a:rPr>
              <a:t>REAL-TIME MONITORING</a:t>
            </a:r>
          </a:p>
        </p:txBody>
      </p:sp>
      <p:sp>
        <p:nvSpPr>
          <p:cNvPr id="14" name="Rectangle 13">
            <a:extLst>
              <a:ext uri="{FF2B5EF4-FFF2-40B4-BE49-F238E27FC236}">
                <a16:creationId xmlns:a16="http://schemas.microsoft.com/office/drawing/2014/main" id="{0E5E0C81-4E65-42E2-A1CE-DE533CCC3888}"/>
              </a:ext>
            </a:extLst>
          </p:cNvPr>
          <p:cNvSpPr>
            <a:spLocks noGrp="1"/>
          </p:cNvSpPr>
          <p:nvPr/>
        </p:nvSpPr>
        <p:spPr>
          <a:xfrm>
            <a:off x="609600" y="3409950"/>
            <a:ext cx="38100" cy="552450"/>
          </a:xfrm>
          <a:prstGeom prst="rect">
            <a:avLst/>
          </a:prstGeom>
          <a:solidFill>
            <a:srgbClr val="4DA3FF"/>
          </a:solidFill>
          <a:ln w="0">
            <a:solidFill>
              <a:srgbClr val="000000">
                <a:alpha val="0"/>
              </a:srgbClr>
            </a:solidFill>
            <a:prstDash val="solid"/>
          </a:ln>
        </p:spPr>
      </p:sp>
      <p:sp>
        <p:nvSpPr>
          <p:cNvPr id="15" name="Rectangle 14">
            <a:extLst>
              <a:ext uri="{FF2B5EF4-FFF2-40B4-BE49-F238E27FC236}">
                <a16:creationId xmlns:a16="http://schemas.microsoft.com/office/drawing/2014/main" id="{F5EA4DF1-C305-4217-8FEB-54E106B51C2C}"/>
              </a:ext>
            </a:extLst>
          </p:cNvPr>
          <p:cNvSpPr>
            <a:spLocks noGrp="1"/>
          </p:cNvSpPr>
          <p:nvPr/>
        </p:nvSpPr>
        <p:spPr>
          <a:xfrm>
            <a:off x="742950" y="3390900"/>
            <a:ext cx="1676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FFFFFF"/>
                </a:solidFill>
                <a:latin typeface="Aptos Display"/>
                <a:ea typeface="Aptos Display"/>
                <a:cs typeface="Aptos Display"/>
              </a:defRPr>
            </a:pPr>
            <a:r>
              <a:rPr sz="1950" b="1">
                <a:solidFill>
                  <a:srgbClr val="FFFFFF"/>
                </a:solidFill>
                <a:latin typeface="Aptos Display"/>
                <a:ea typeface="Aptos Display"/>
                <a:cs typeface="Aptos Display"/>
              </a:rPr>
              <a:t>1s</a:t>
            </a:r>
          </a:p>
        </p:txBody>
      </p:sp>
      <p:sp>
        <p:nvSpPr>
          <p:cNvPr id="16" name="Rectangle 15">
            <a:extLst>
              <a:ext uri="{FF2B5EF4-FFF2-40B4-BE49-F238E27FC236}">
                <a16:creationId xmlns:a16="http://schemas.microsoft.com/office/drawing/2014/main" id="{512C3F94-98D8-420A-82D5-541BBE1A73A3}"/>
              </a:ext>
            </a:extLst>
          </p:cNvPr>
          <p:cNvSpPr>
            <a:spLocks noGrp="1"/>
          </p:cNvSpPr>
          <p:nvPr/>
        </p:nvSpPr>
        <p:spPr>
          <a:xfrm>
            <a:off x="742950" y="3686175"/>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9FB3C8"/>
                </a:solidFill>
                <a:latin typeface="Aptos"/>
                <a:ea typeface="Aptos"/>
                <a:cs typeface="Aptos"/>
              </a:defRPr>
            </a:pPr>
            <a:r>
              <a:rPr sz="713" b="1">
                <a:solidFill>
                  <a:srgbClr val="9FB3C8"/>
                </a:solidFill>
                <a:latin typeface="Aptos"/>
                <a:ea typeface="Aptos"/>
                <a:cs typeface="Aptos"/>
              </a:rPr>
              <a:t>live scene check cadence</a:t>
            </a:r>
          </a:p>
        </p:txBody>
      </p:sp>
      <p:sp>
        <p:nvSpPr>
          <p:cNvPr id="17" name="Rectangle 16">
            <a:extLst>
              <a:ext uri="{FF2B5EF4-FFF2-40B4-BE49-F238E27FC236}">
                <a16:creationId xmlns:a16="http://schemas.microsoft.com/office/drawing/2014/main" id="{50BD8DF3-3369-474D-8380-BFEFBC1D2F44}"/>
              </a:ext>
            </a:extLst>
          </p:cNvPr>
          <p:cNvSpPr>
            <a:spLocks noGrp="1"/>
          </p:cNvSpPr>
          <p:nvPr/>
        </p:nvSpPr>
        <p:spPr>
          <a:xfrm>
            <a:off x="742950" y="3819525"/>
            <a:ext cx="2000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7E96B0"/>
                </a:solidFill>
                <a:latin typeface="Aptos"/>
                <a:ea typeface="Aptos"/>
                <a:cs typeface="Aptos"/>
              </a:defRPr>
            </a:pPr>
            <a:r>
              <a:rPr sz="638" b="0">
                <a:solidFill>
                  <a:srgbClr val="7E96B0"/>
                </a:solidFill>
                <a:latin typeface="Aptos"/>
                <a:ea typeface="Aptos"/>
                <a:cs typeface="Aptos"/>
              </a:rPr>
              <a:t>change detection avoids redundant calls</a:t>
            </a:r>
          </a:p>
        </p:txBody>
      </p:sp>
      <p:sp>
        <p:nvSpPr>
          <p:cNvPr id="18" name="Rectangle 17">
            <a:extLst>
              <a:ext uri="{FF2B5EF4-FFF2-40B4-BE49-F238E27FC236}">
                <a16:creationId xmlns:a16="http://schemas.microsoft.com/office/drawing/2014/main" id="{36837341-6049-4225-928E-8A50BEEBDDA7}"/>
              </a:ext>
            </a:extLst>
          </p:cNvPr>
          <p:cNvSpPr>
            <a:spLocks noGrp="1"/>
          </p:cNvSpPr>
          <p:nvPr/>
        </p:nvSpPr>
        <p:spPr>
          <a:xfrm>
            <a:off x="3009900" y="3409950"/>
            <a:ext cx="38100" cy="552450"/>
          </a:xfrm>
          <a:prstGeom prst="rect">
            <a:avLst/>
          </a:prstGeom>
          <a:solidFill>
            <a:srgbClr val="30D5C8"/>
          </a:solidFill>
          <a:ln w="0">
            <a:solidFill>
              <a:srgbClr val="000000">
                <a:alpha val="0"/>
              </a:srgbClr>
            </a:solidFill>
            <a:prstDash val="solid"/>
          </a:ln>
        </p:spPr>
      </p:sp>
      <p:sp>
        <p:nvSpPr>
          <p:cNvPr id="19" name="Rectangle 18">
            <a:extLst>
              <a:ext uri="{FF2B5EF4-FFF2-40B4-BE49-F238E27FC236}">
                <a16:creationId xmlns:a16="http://schemas.microsoft.com/office/drawing/2014/main" id="{6E1C2FA9-0FF3-4A35-A4CB-C9A902F5E4E3}"/>
              </a:ext>
            </a:extLst>
          </p:cNvPr>
          <p:cNvSpPr>
            <a:spLocks noGrp="1"/>
          </p:cNvSpPr>
          <p:nvPr/>
        </p:nvSpPr>
        <p:spPr>
          <a:xfrm>
            <a:off x="3143250" y="3390900"/>
            <a:ext cx="1676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FFFFFF"/>
                </a:solidFill>
                <a:latin typeface="Aptos Display"/>
                <a:ea typeface="Aptos Display"/>
                <a:cs typeface="Aptos Display"/>
              </a:defRPr>
            </a:pPr>
            <a:r>
              <a:rPr sz="1950" b="1">
                <a:solidFill>
                  <a:srgbClr val="FFFFFF"/>
                </a:solidFill>
                <a:latin typeface="Aptos Display"/>
                <a:ea typeface="Aptos Display"/>
                <a:cs typeface="Aptos Display"/>
              </a:rPr>
              <a:t>52px</a:t>
            </a:r>
          </a:p>
        </p:txBody>
      </p:sp>
      <p:sp>
        <p:nvSpPr>
          <p:cNvPr id="20" name="Rectangle 19">
            <a:extLst>
              <a:ext uri="{FF2B5EF4-FFF2-40B4-BE49-F238E27FC236}">
                <a16:creationId xmlns:a16="http://schemas.microsoft.com/office/drawing/2014/main" id="{A3B6D7F1-1EAF-486C-A9E9-BA950F5DECDB}"/>
              </a:ext>
            </a:extLst>
          </p:cNvPr>
          <p:cNvSpPr>
            <a:spLocks noGrp="1"/>
          </p:cNvSpPr>
          <p:nvPr/>
        </p:nvSpPr>
        <p:spPr>
          <a:xfrm>
            <a:off x="3143250" y="3686175"/>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9FB3C8"/>
                </a:solidFill>
                <a:latin typeface="Aptos"/>
                <a:ea typeface="Aptos"/>
                <a:cs typeface="Aptos"/>
              </a:defRPr>
            </a:pPr>
            <a:r>
              <a:rPr sz="713" b="1">
                <a:solidFill>
                  <a:srgbClr val="9FB3C8"/>
                </a:solidFill>
                <a:latin typeface="Aptos"/>
                <a:ea typeface="Aptos"/>
                <a:cs typeface="Aptos"/>
              </a:rPr>
              <a:t>minimum touch target</a:t>
            </a:r>
          </a:p>
        </p:txBody>
      </p:sp>
      <p:sp>
        <p:nvSpPr>
          <p:cNvPr id="21" name="Rectangle 20">
            <a:extLst>
              <a:ext uri="{FF2B5EF4-FFF2-40B4-BE49-F238E27FC236}">
                <a16:creationId xmlns:a16="http://schemas.microsoft.com/office/drawing/2014/main" id="{3BB9C5FC-0FA6-460E-8560-B4E681D98A96}"/>
              </a:ext>
            </a:extLst>
          </p:cNvPr>
          <p:cNvSpPr>
            <a:spLocks noGrp="1"/>
          </p:cNvSpPr>
          <p:nvPr/>
        </p:nvSpPr>
        <p:spPr>
          <a:xfrm>
            <a:off x="3143250" y="3819525"/>
            <a:ext cx="2000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7E96B0"/>
                </a:solidFill>
                <a:latin typeface="Aptos"/>
                <a:ea typeface="Aptos"/>
                <a:cs typeface="Aptos"/>
              </a:defRPr>
            </a:pPr>
            <a:r>
              <a:rPr sz="638" b="0">
                <a:solidFill>
                  <a:srgbClr val="7E96B0"/>
                </a:solidFill>
                <a:latin typeface="Aptos"/>
                <a:ea typeface="Aptos"/>
                <a:cs typeface="Aptos"/>
              </a:rPr>
              <a:t>kept intentionally large for accessibility</a:t>
            </a:r>
          </a:p>
        </p:txBody>
      </p:sp>
      <p:sp>
        <p:nvSpPr>
          <p:cNvPr id="22" name="Rectangle 21">
            <a:extLst>
              <a:ext uri="{FF2B5EF4-FFF2-40B4-BE49-F238E27FC236}">
                <a16:creationId xmlns:a16="http://schemas.microsoft.com/office/drawing/2014/main" id="{3987C68E-2BAD-4B4E-9D00-5A7FAB5E6ACC}"/>
              </a:ext>
            </a:extLst>
          </p:cNvPr>
          <p:cNvSpPr>
            <a:spLocks noGrp="1"/>
          </p:cNvSpPr>
          <p:nvPr/>
        </p:nvSpPr>
        <p:spPr>
          <a:xfrm>
            <a:off x="5410200" y="3409950"/>
            <a:ext cx="38100" cy="552450"/>
          </a:xfrm>
          <a:prstGeom prst="rect">
            <a:avLst/>
          </a:prstGeom>
          <a:solidFill>
            <a:srgbClr val="7C6CFF"/>
          </a:solidFill>
          <a:ln w="0">
            <a:solidFill>
              <a:srgbClr val="000000">
                <a:alpha val="0"/>
              </a:srgbClr>
            </a:solidFill>
            <a:prstDash val="solid"/>
          </a:ln>
        </p:spPr>
      </p:sp>
      <p:sp>
        <p:nvSpPr>
          <p:cNvPr id="23" name="Rectangle 22">
            <a:extLst>
              <a:ext uri="{FF2B5EF4-FFF2-40B4-BE49-F238E27FC236}">
                <a16:creationId xmlns:a16="http://schemas.microsoft.com/office/drawing/2014/main" id="{6266241D-D328-4BD1-81D5-C465D4E338ED}"/>
              </a:ext>
            </a:extLst>
          </p:cNvPr>
          <p:cNvSpPr>
            <a:spLocks noGrp="1"/>
          </p:cNvSpPr>
          <p:nvPr/>
        </p:nvSpPr>
        <p:spPr>
          <a:xfrm>
            <a:off x="5543550" y="3390900"/>
            <a:ext cx="1676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FFFFFF"/>
                </a:solidFill>
                <a:latin typeface="Aptos Display"/>
                <a:ea typeface="Aptos Display"/>
                <a:cs typeface="Aptos Display"/>
              </a:defRPr>
            </a:pPr>
            <a:r>
              <a:rPr sz="1950" b="1">
                <a:solidFill>
                  <a:srgbClr val="FFFFFF"/>
                </a:solidFill>
                <a:latin typeface="Aptos Display"/>
                <a:ea typeface="Aptos Display"/>
                <a:cs typeface="Aptos Display"/>
              </a:rPr>
              <a:t>&lt;300</a:t>
            </a:r>
          </a:p>
        </p:txBody>
      </p:sp>
      <p:sp>
        <p:nvSpPr>
          <p:cNvPr id="24" name="Rectangle 23">
            <a:extLst>
              <a:ext uri="{FF2B5EF4-FFF2-40B4-BE49-F238E27FC236}">
                <a16:creationId xmlns:a16="http://schemas.microsoft.com/office/drawing/2014/main" id="{F3C68447-D94E-4C54-9B28-26A7FB81A9AE}"/>
              </a:ext>
            </a:extLst>
          </p:cNvPr>
          <p:cNvSpPr>
            <a:spLocks noGrp="1"/>
          </p:cNvSpPr>
          <p:nvPr/>
        </p:nvSpPr>
        <p:spPr>
          <a:xfrm>
            <a:off x="5543550" y="3686175"/>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9FB3C8"/>
                </a:solidFill>
                <a:latin typeface="Aptos"/>
                <a:ea typeface="Aptos"/>
                <a:cs typeface="Aptos"/>
              </a:defRPr>
            </a:pPr>
            <a:r>
              <a:rPr sz="713" b="1">
                <a:solidFill>
                  <a:srgbClr val="9FB3C8"/>
                </a:solidFill>
                <a:latin typeface="Aptos"/>
                <a:ea typeface="Aptos"/>
                <a:cs typeface="Aptos"/>
              </a:rPr>
              <a:t>spoken description budget</a:t>
            </a:r>
          </a:p>
        </p:txBody>
      </p:sp>
      <p:sp>
        <p:nvSpPr>
          <p:cNvPr id="25" name="Rectangle 24">
            <a:extLst>
              <a:ext uri="{FF2B5EF4-FFF2-40B4-BE49-F238E27FC236}">
                <a16:creationId xmlns:a16="http://schemas.microsoft.com/office/drawing/2014/main" id="{ADF1A0E3-E3C2-4FE6-8930-4034B855FE9E}"/>
              </a:ext>
            </a:extLst>
          </p:cNvPr>
          <p:cNvSpPr>
            <a:spLocks noGrp="1"/>
          </p:cNvSpPr>
          <p:nvPr/>
        </p:nvSpPr>
        <p:spPr>
          <a:xfrm>
            <a:off x="5543550" y="3819525"/>
            <a:ext cx="2000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7E96B0"/>
                </a:solidFill>
                <a:latin typeface="Aptos"/>
                <a:ea typeface="Aptos"/>
                <a:cs typeface="Aptos"/>
              </a:defRPr>
            </a:pPr>
            <a:r>
              <a:rPr sz="638" b="0">
                <a:solidFill>
                  <a:srgbClr val="7E96B0"/>
                </a:solidFill>
                <a:latin typeface="Aptos"/>
                <a:ea typeface="Aptos"/>
                <a:cs typeface="Aptos"/>
              </a:rPr>
              <a:t>optimized for direct, low-friction audio</a:t>
            </a:r>
          </a:p>
        </p:txBody>
      </p:sp>
      <p:sp>
        <p:nvSpPr>
          <p:cNvPr id="26" name="Rectangle 25">
            <a:extLst>
              <a:ext uri="{FF2B5EF4-FFF2-40B4-BE49-F238E27FC236}">
                <a16:creationId xmlns:a16="http://schemas.microsoft.com/office/drawing/2014/main" id="{DA2059AE-9115-4654-8846-18500331D2FB}"/>
              </a:ext>
            </a:extLst>
          </p:cNvPr>
          <p:cNvSpPr>
            <a:spLocks noGrp="1"/>
          </p:cNvSpPr>
          <p:nvPr/>
        </p:nvSpPr>
        <p:spPr>
          <a:xfrm>
            <a:off x="7391400" y="609600"/>
            <a:ext cx="4171950" cy="5295900"/>
          </a:xfrm>
          <a:prstGeom prst="rect">
            <a:avLst/>
          </a:prstGeom>
          <a:solidFill>
            <a:srgbClr val="0B1728"/>
          </a:solidFill>
          <a:ln w="9525">
            <a:solidFill>
              <a:srgbClr val="314A69"/>
            </a:solidFill>
            <a:prstDash val="solid"/>
          </a:ln>
        </p:spPr>
      </p:sp>
      <p:pic>
        <p:nvPicPr>
          <p:cNvPr id="27" name="Picture 26"/>
          <p:cNvPicPr>
            <a:picLocks noChangeAspect="1"/>
          </p:cNvPicPr>
          <p:nvPr/>
        </p:nvPicPr>
        <p:blipFill>
          <a:blip r:embed="rId3"/>
          <a:stretch/>
        </p:blipFill>
        <p:spPr>
          <a:xfrm>
            <a:off x="8312291" y="933450"/>
            <a:ext cx="2425419" cy="2552700"/>
          </a:xfrm>
          <a:prstGeom prst="rect">
            <a:avLst/>
          </a:prstGeom>
        </p:spPr>
      </p:pic>
      <p:sp>
        <p:nvSpPr>
          <p:cNvPr id="28" name="Rectangle 27">
            <a:extLst>
              <a:ext uri="{FF2B5EF4-FFF2-40B4-BE49-F238E27FC236}">
                <a16:creationId xmlns:a16="http://schemas.microsoft.com/office/drawing/2014/main" id="{4A14E814-6122-4948-817D-A298FF54B035}"/>
              </a:ext>
            </a:extLst>
          </p:cNvPr>
          <p:cNvSpPr>
            <a:spLocks noGrp="1"/>
          </p:cNvSpPr>
          <p:nvPr/>
        </p:nvSpPr>
        <p:spPr>
          <a:xfrm>
            <a:off x="7734300" y="3829050"/>
            <a:ext cx="2095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Aptos"/>
                <a:ea typeface="Aptos"/>
                <a:cs typeface="Aptos"/>
              </a:defRPr>
            </a:pPr>
            <a:r>
              <a:rPr sz="1125" b="1">
                <a:solidFill>
                  <a:srgbClr val="FFFFFF"/>
                </a:solidFill>
                <a:latin typeface="Aptos"/>
                <a:ea typeface="Aptos"/>
                <a:cs typeface="Aptos"/>
              </a:rPr>
              <a:t>What it is built for</a:t>
            </a:r>
          </a:p>
        </p:txBody>
      </p:sp>
      <p:sp>
        <p:nvSpPr>
          <p:cNvPr id="29" name="Rectangle 28">
            <a:extLst>
              <a:ext uri="{FF2B5EF4-FFF2-40B4-BE49-F238E27FC236}">
                <a16:creationId xmlns:a16="http://schemas.microsoft.com/office/drawing/2014/main" id="{DC96F076-B056-4385-A174-0CF2FEC6C8FB}"/>
              </a:ext>
            </a:extLst>
          </p:cNvPr>
          <p:cNvSpPr>
            <a:spLocks noGrp="1"/>
          </p:cNvSpPr>
          <p:nvPr/>
        </p:nvSpPr>
        <p:spPr>
          <a:xfrm>
            <a:off x="7734300" y="4171950"/>
            <a:ext cx="1562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1">
                <a:solidFill>
                  <a:srgbClr val="4DA3FF"/>
                </a:solidFill>
                <a:latin typeface="Aptos"/>
                <a:ea typeface="Aptos"/>
                <a:cs typeface="Aptos"/>
              </a:defRPr>
            </a:pPr>
            <a:r>
              <a:rPr sz="863" b="1">
                <a:solidFill>
                  <a:srgbClr val="4DA3FF"/>
                </a:solidFill>
                <a:latin typeface="Aptos"/>
                <a:ea typeface="Aptos"/>
                <a:cs typeface="Aptos"/>
              </a:rPr>
              <a:t>Quick scene understanding</a:t>
            </a:r>
          </a:p>
        </p:txBody>
      </p:sp>
      <p:sp>
        <p:nvSpPr>
          <p:cNvPr id="30" name="Rectangle 29">
            <a:extLst>
              <a:ext uri="{FF2B5EF4-FFF2-40B4-BE49-F238E27FC236}">
                <a16:creationId xmlns:a16="http://schemas.microsoft.com/office/drawing/2014/main" id="{1CC7ADB1-3483-4E23-A4E9-642E9B5B2E15}"/>
              </a:ext>
            </a:extLst>
          </p:cNvPr>
          <p:cNvSpPr>
            <a:spLocks noGrp="1"/>
          </p:cNvSpPr>
          <p:nvPr/>
        </p:nvSpPr>
        <p:spPr>
          <a:xfrm>
            <a:off x="7734300" y="4362450"/>
            <a:ext cx="17145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9FB3C8"/>
                </a:solidFill>
                <a:latin typeface="Aptos"/>
                <a:ea typeface="Aptos"/>
                <a:cs typeface="Aptos"/>
              </a:defRPr>
            </a:pPr>
            <a:r>
              <a:rPr sz="788" b="0">
                <a:solidFill>
                  <a:srgbClr val="9FB3C8"/>
                </a:solidFill>
                <a:latin typeface="Aptos"/>
                <a:ea typeface="Aptos"/>
                <a:cs typeface="Aptos"/>
              </a:rPr>
              <a:t>Street crossings, room orientation, obstacles, and other moments where a short spoken cue can reduce uncertainty.</a:t>
            </a:r>
          </a:p>
        </p:txBody>
      </p:sp>
      <p:sp>
        <p:nvSpPr>
          <p:cNvPr id="31" name="Rectangle 30">
            <a:extLst>
              <a:ext uri="{FF2B5EF4-FFF2-40B4-BE49-F238E27FC236}">
                <a16:creationId xmlns:a16="http://schemas.microsoft.com/office/drawing/2014/main" id="{9B8C95AF-0326-4E9F-B04B-F2A5C17BBFEE}"/>
              </a:ext>
            </a:extLst>
          </p:cNvPr>
          <p:cNvSpPr>
            <a:spLocks noGrp="1"/>
          </p:cNvSpPr>
          <p:nvPr/>
        </p:nvSpPr>
        <p:spPr>
          <a:xfrm>
            <a:off x="9620250" y="4171950"/>
            <a:ext cx="1562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1">
                <a:solidFill>
                  <a:srgbClr val="30D5C8"/>
                </a:solidFill>
                <a:latin typeface="Aptos"/>
                <a:ea typeface="Aptos"/>
                <a:cs typeface="Aptos"/>
              </a:defRPr>
            </a:pPr>
            <a:r>
              <a:rPr sz="863" b="1">
                <a:solidFill>
                  <a:srgbClr val="30D5C8"/>
                </a:solidFill>
                <a:latin typeface="Aptos"/>
                <a:ea typeface="Aptos"/>
                <a:cs typeface="Aptos"/>
              </a:rPr>
              <a:t>Follow-up questions</a:t>
            </a:r>
          </a:p>
        </p:txBody>
      </p:sp>
      <p:sp>
        <p:nvSpPr>
          <p:cNvPr id="32" name="Rectangle 31">
            <a:extLst>
              <a:ext uri="{FF2B5EF4-FFF2-40B4-BE49-F238E27FC236}">
                <a16:creationId xmlns:a16="http://schemas.microsoft.com/office/drawing/2014/main" id="{D17EE0FB-007C-4284-8E40-FF46ED7AC89A}"/>
              </a:ext>
            </a:extLst>
          </p:cNvPr>
          <p:cNvSpPr>
            <a:spLocks noGrp="1"/>
          </p:cNvSpPr>
          <p:nvPr/>
        </p:nvSpPr>
        <p:spPr>
          <a:xfrm>
            <a:off x="9620250" y="4362450"/>
            <a:ext cx="165735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9FB3C8"/>
                </a:solidFill>
                <a:latin typeface="Aptos"/>
                <a:ea typeface="Aptos"/>
                <a:cs typeface="Aptos"/>
              </a:defRPr>
            </a:pPr>
            <a:r>
              <a:rPr sz="788" b="0">
                <a:solidFill>
                  <a:srgbClr val="9FB3C8"/>
                </a:solidFill>
                <a:latin typeface="Aptos"/>
                <a:ea typeface="Aptos"/>
                <a:cs typeface="Aptos"/>
              </a:rPr>
              <a:t>The user can ask the app about controls, objects, or layout using the current frame buffer instead of starting over.</a:t>
            </a:r>
          </a:p>
        </p:txBody>
      </p:sp>
      <p:sp>
        <p:nvSpPr>
          <p:cNvPr id="33" name="Rectangle 32">
            <a:extLst>
              <a:ext uri="{FF2B5EF4-FFF2-40B4-BE49-F238E27FC236}">
                <a16:creationId xmlns:a16="http://schemas.microsoft.com/office/drawing/2014/main" id="{E113141E-2D07-4838-9B62-6D84ECE15D09}"/>
              </a:ext>
            </a:extLst>
          </p:cNvPr>
          <p:cNvSpPr>
            <a:spLocks noGrp="1"/>
          </p:cNvSpPr>
          <p:nvPr/>
        </p:nvSpPr>
        <p:spPr>
          <a:xfrm>
            <a:off x="7734300" y="5010150"/>
            <a:ext cx="1143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1">
                <a:solidFill>
                  <a:srgbClr val="FFFFFF"/>
                </a:solidFill>
                <a:latin typeface="Aptos"/>
                <a:ea typeface="Aptos"/>
                <a:cs typeface="Aptos"/>
              </a:defRPr>
            </a:pPr>
            <a:r>
              <a:rPr sz="863" b="1">
                <a:solidFill>
                  <a:srgbClr val="FFFFFF"/>
                </a:solidFill>
                <a:latin typeface="Aptos"/>
                <a:ea typeface="Aptos"/>
                <a:cs typeface="Aptos"/>
              </a:rPr>
              <a:t>Built as</a:t>
            </a:r>
          </a:p>
        </p:txBody>
      </p:sp>
      <p:sp>
        <p:nvSpPr>
          <p:cNvPr id="34" name="Rectangle 33">
            <a:extLst>
              <a:ext uri="{FF2B5EF4-FFF2-40B4-BE49-F238E27FC236}">
                <a16:creationId xmlns:a16="http://schemas.microsoft.com/office/drawing/2014/main" id="{4E4E22D9-096D-43B4-A612-25B5D64680AF}"/>
              </a:ext>
            </a:extLst>
          </p:cNvPr>
          <p:cNvSpPr>
            <a:spLocks noGrp="1"/>
          </p:cNvSpPr>
          <p:nvPr/>
        </p:nvSpPr>
        <p:spPr>
          <a:xfrm>
            <a:off x="7734300" y="5219700"/>
            <a:ext cx="31432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9FB3C8"/>
                </a:solidFill>
                <a:latin typeface="Aptos"/>
                <a:ea typeface="Aptos"/>
                <a:cs typeface="Aptos"/>
              </a:defRPr>
            </a:pPr>
            <a:r>
              <a:rPr sz="788" b="0">
                <a:solidFill>
                  <a:srgbClr val="9FB3C8"/>
                </a:solidFill>
                <a:latin typeface="Aptos"/>
                <a:ea typeface="Aptos"/>
                <a:cs typeface="Aptos"/>
              </a:rPr>
              <a:t>React + TypeScript frontend, FastAPI backend, OpenRouter multimodal analysis, optional Camb AI speech, and Cloud Run deployment.</a:t>
            </a:r>
          </a:p>
        </p:txBody>
      </p:sp>
      <p:sp>
        <p:nvSpPr>
          <p:cNvPr id="35" name="Rectangle 34">
            <a:extLst>
              <a:ext uri="{FF2B5EF4-FFF2-40B4-BE49-F238E27FC236}">
                <a16:creationId xmlns:a16="http://schemas.microsoft.com/office/drawing/2014/main" id="{45B2F991-D0CD-4A29-B3E2-6DE0BE8E5876}"/>
              </a:ext>
            </a:extLst>
          </p:cNvPr>
          <p:cNvSpPr>
            <a:spLocks noGrp="1"/>
          </p:cNvSpPr>
          <p:nvPr/>
        </p:nvSpPr>
        <p:spPr>
          <a:xfrm>
            <a:off x="609600" y="6515100"/>
            <a:ext cx="10972800" cy="9525"/>
          </a:xfrm>
          <a:prstGeom prst="rect">
            <a:avLst/>
          </a:prstGeom>
          <a:solidFill>
            <a:srgbClr val="294562"/>
          </a:solidFill>
          <a:ln w="0">
            <a:solidFill>
              <a:srgbClr val="000000">
                <a:alpha val="0"/>
              </a:srgbClr>
            </a:solidFill>
            <a:prstDash val="solid"/>
          </a:ln>
        </p:spPr>
      </p:sp>
      <p:sp>
        <p:nvSpPr>
          <p:cNvPr id="36" name="Rectangle 35">
            <a:extLst>
              <a:ext uri="{FF2B5EF4-FFF2-40B4-BE49-F238E27FC236}">
                <a16:creationId xmlns:a16="http://schemas.microsoft.com/office/drawing/2014/main" id="{7E92652F-7E70-4C1E-9041-241391661BAD}"/>
              </a:ext>
            </a:extLst>
          </p:cNvPr>
          <p:cNvSpPr>
            <a:spLocks noGrp="1"/>
          </p:cNvSpPr>
          <p:nvPr/>
        </p:nvSpPr>
        <p:spPr>
          <a:xfrm>
            <a:off x="609600" y="6581775"/>
            <a:ext cx="93345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00" b="0">
                <a:solidFill>
                  <a:srgbClr val="7E96B0"/>
                </a:solidFill>
                <a:latin typeface="Aptos"/>
                <a:ea typeface="Aptos"/>
                <a:cs typeface="Aptos"/>
              </a:defRPr>
            </a:pPr>
            <a:r>
              <a:rPr sz="600" b="0">
                <a:solidFill>
                  <a:srgbClr val="7E96B0"/>
                </a:solidFill>
                <a:latin typeface="Aptos"/>
                <a:ea typeface="Aptos"/>
                <a:cs typeface="Aptos"/>
              </a:rPr>
              <a:t>Source: /Users/bardhhasani/Desktop/Projects/SightSync/README.md and frontend/src/assets/hero.png</a:t>
            </a:r>
          </a:p>
        </p:txBody>
      </p:sp>
      <p:sp>
        <p:nvSpPr>
          <p:cNvPr id="37" name="Rectangle 36">
            <a:extLst>
              <a:ext uri="{FF2B5EF4-FFF2-40B4-BE49-F238E27FC236}">
                <a16:creationId xmlns:a16="http://schemas.microsoft.com/office/drawing/2014/main" id="{10DA3249-DBA8-49CD-A169-D20CE9E8E5EE}"/>
              </a:ext>
            </a:extLst>
          </p:cNvPr>
          <p:cNvSpPr>
            <a:spLocks noGrp="1"/>
          </p:cNvSpPr>
          <p:nvPr/>
        </p:nvSpPr>
        <p:spPr>
          <a:xfrm>
            <a:off x="11125200" y="6543675"/>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9FB3C8"/>
                </a:solidFill>
                <a:latin typeface="Aptos Display"/>
                <a:ea typeface="Aptos Display"/>
                <a:cs typeface="Aptos Display"/>
              </a:defRPr>
            </a:pPr>
            <a:r>
              <a:rPr sz="825" b="1">
                <a:solidFill>
                  <a:srgbClr val="9FB3C8"/>
                </a:solidFill>
                <a:latin typeface="Aptos Display"/>
                <a:ea typeface="Aptos Display"/>
                <a:cs typeface="Aptos Display"/>
              </a:rPr>
              <a:t>01</a:t>
            </a:r>
          </a:p>
        </p:txBody>
      </p:sp>
    </p:spTree>
    <p:extLst>
      <p:ext uri="{BB962C8B-B14F-4D97-AF65-F5344CB8AC3E}">
        <p14:creationId xmlns:p14="http://schemas.microsoft.com/office/powerpoint/2010/main" val="1277637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FAC81B21-1E3F-45D6-91B2-AFAC3F9E98C8}"/>
              </a:ext>
            </a:extLst>
          </p:cNvPr>
          <p:cNvSpPr>
            <a:spLocks noGrp="1"/>
          </p:cNvSpPr>
          <p:nvPr/>
        </p:nvSpPr>
        <p:spPr>
          <a:xfrm>
            <a:off x="0" y="0"/>
            <a:ext cx="12192000" cy="6858000"/>
          </a:xfrm>
          <a:prstGeom prst="rect">
            <a:avLst/>
          </a:prstGeom>
          <a:solidFill>
            <a:srgbClr val="07111F"/>
          </a:solidFill>
          <a:ln w="0">
            <a:solidFill>
              <a:srgbClr val="000000">
                <a:alpha val="0"/>
              </a:srgbClr>
            </a:solidFill>
            <a:prstDash val="solid"/>
          </a:ln>
        </p:spPr>
      </p:sp>
      <p:sp>
        <p:nvSpPr>
          <p:cNvPr id="2" name="Rectangle 1">
            <a:extLst>
              <a:ext uri="{FF2B5EF4-FFF2-40B4-BE49-F238E27FC236}">
                <a16:creationId xmlns:a16="http://schemas.microsoft.com/office/drawing/2014/main" id="{986EEEE8-0B10-45EF-9379-DFA4DA849AC8}"/>
              </a:ext>
            </a:extLst>
          </p:cNvPr>
          <p:cNvSpPr>
            <a:spLocks noGrp="1"/>
          </p:cNvSpPr>
          <p:nvPr/>
        </p:nvSpPr>
        <p:spPr>
          <a:xfrm>
            <a:off x="0" y="0"/>
            <a:ext cx="12192000" cy="1790700"/>
          </a:xfrm>
          <a:prstGeom prst="rect">
            <a:avLst/>
          </a:prstGeom>
          <a:solidFill>
            <a:srgbClr val="0A1730"/>
          </a:solidFill>
          <a:ln w="0">
            <a:solidFill>
              <a:srgbClr val="000000">
                <a:alpha val="0"/>
              </a:srgbClr>
            </a:solidFill>
            <a:prstDash val="solid"/>
          </a:ln>
        </p:spPr>
      </p:sp>
      <p:sp>
        <p:nvSpPr>
          <p:cNvPr id="3" name="Rectangle 2">
            <a:extLst>
              <a:ext uri="{FF2B5EF4-FFF2-40B4-BE49-F238E27FC236}">
                <a16:creationId xmlns:a16="http://schemas.microsoft.com/office/drawing/2014/main" id="{37A55CFA-969D-40B8-AB1F-5FB0BCA001C4}"/>
              </a:ext>
            </a:extLst>
          </p:cNvPr>
          <p:cNvSpPr>
            <a:spLocks noGrp="1"/>
          </p:cNvSpPr>
          <p:nvPr/>
        </p:nvSpPr>
        <p:spPr>
          <a:xfrm>
            <a:off x="9144000" y="0"/>
            <a:ext cx="3048000" cy="6858000"/>
          </a:xfrm>
          <a:prstGeom prst="rect">
            <a:avLst/>
          </a:prstGeom>
          <a:solidFill>
            <a:srgbClr val="081523"/>
          </a:solidFill>
          <a:ln w="0">
            <a:solidFill>
              <a:srgbClr val="000000">
                <a:alpha val="0"/>
              </a:srgbClr>
            </a:solidFill>
            <a:prstDash val="solid"/>
          </a:ln>
        </p:spPr>
      </p:sp>
      <p:sp>
        <p:nvSpPr>
          <p:cNvPr id="4" name="Rectangle 3">
            <a:extLst>
              <a:ext uri="{FF2B5EF4-FFF2-40B4-BE49-F238E27FC236}">
                <a16:creationId xmlns:a16="http://schemas.microsoft.com/office/drawing/2014/main" id="{921F4D13-11FC-4A2D-B75F-6635D4C0F4FD}"/>
              </a:ext>
            </a:extLst>
          </p:cNvPr>
          <p:cNvSpPr>
            <a:spLocks noGrp="1"/>
          </p:cNvSpPr>
          <p:nvPr/>
        </p:nvSpPr>
        <p:spPr>
          <a:xfrm>
            <a:off x="609600" y="457200"/>
            <a:ext cx="95250" cy="95250"/>
          </a:xfrm>
          <a:prstGeom prst="rect">
            <a:avLst/>
          </a:prstGeom>
          <a:solidFill>
            <a:srgbClr val="30D5C8"/>
          </a:solidFill>
          <a:ln w="0">
            <a:solidFill>
              <a:srgbClr val="000000">
                <a:alpha val="0"/>
              </a:srgbClr>
            </a:solidFill>
            <a:prstDash val="solid"/>
          </a:ln>
        </p:spPr>
      </p:sp>
      <p:sp>
        <p:nvSpPr>
          <p:cNvPr id="5" name="Rectangle 4">
            <a:extLst>
              <a:ext uri="{FF2B5EF4-FFF2-40B4-BE49-F238E27FC236}">
                <a16:creationId xmlns:a16="http://schemas.microsoft.com/office/drawing/2014/main" id="{BFF94EFA-81B0-4828-99DE-32E81B34BA23}"/>
              </a:ext>
            </a:extLst>
          </p:cNvPr>
          <p:cNvSpPr>
            <a:spLocks noGrp="1"/>
          </p:cNvSpPr>
          <p:nvPr/>
        </p:nvSpPr>
        <p:spPr>
          <a:xfrm>
            <a:off x="800100" y="409575"/>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9FB3C8"/>
                </a:solidFill>
                <a:latin typeface="Aptos"/>
                <a:ea typeface="Aptos"/>
                <a:cs typeface="Aptos"/>
              </a:defRPr>
            </a:pPr>
            <a:r>
              <a:rPr sz="750" b="1">
                <a:solidFill>
                  <a:srgbClr val="9FB3C8"/>
                </a:solidFill>
                <a:latin typeface="Aptos"/>
                <a:ea typeface="Aptos"/>
                <a:cs typeface="Aptos"/>
              </a:rPr>
              <a:t>AUDIENCE AND INTENT</a:t>
            </a:r>
          </a:p>
        </p:txBody>
      </p:sp>
      <p:sp>
        <p:nvSpPr>
          <p:cNvPr id="6" name="Rectangle 5">
            <a:extLst>
              <a:ext uri="{FF2B5EF4-FFF2-40B4-BE49-F238E27FC236}">
                <a16:creationId xmlns:a16="http://schemas.microsoft.com/office/drawing/2014/main" id="{18EB6968-4ED7-4CAA-8A4C-0A5D183FD5FA}"/>
              </a:ext>
            </a:extLst>
          </p:cNvPr>
          <p:cNvSpPr>
            <a:spLocks noGrp="1"/>
          </p:cNvSpPr>
          <p:nvPr/>
        </p:nvSpPr>
        <p:spPr>
          <a:xfrm>
            <a:off x="609600" y="742950"/>
            <a:ext cx="7239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FFFFF"/>
                </a:solidFill>
                <a:latin typeface="Aptos Display"/>
                <a:ea typeface="Aptos Display"/>
                <a:cs typeface="Aptos Display"/>
              </a:defRPr>
            </a:pPr>
            <a:r>
              <a:rPr sz="2475" b="1">
                <a:solidFill>
                  <a:srgbClr val="FFFFFF"/>
                </a:solidFill>
                <a:latin typeface="Aptos Display"/>
                <a:ea typeface="Aptos Display"/>
                <a:cs typeface="Aptos Display"/>
              </a:rPr>
              <a:t>SightSync is intended for moments when a fast spoken description is more useful than a full visual interface.</a:t>
            </a:r>
          </a:p>
        </p:txBody>
      </p:sp>
      <p:sp>
        <p:nvSpPr>
          <p:cNvPr id="7" name="Rectangle 6">
            <a:extLst>
              <a:ext uri="{FF2B5EF4-FFF2-40B4-BE49-F238E27FC236}">
                <a16:creationId xmlns:a16="http://schemas.microsoft.com/office/drawing/2014/main" id="{EAD5F5EA-A7DB-4088-B559-44D70126E9BF}"/>
              </a:ext>
            </a:extLst>
          </p:cNvPr>
          <p:cNvSpPr>
            <a:spLocks noGrp="1"/>
          </p:cNvSpPr>
          <p:nvPr/>
        </p:nvSpPr>
        <p:spPr>
          <a:xfrm>
            <a:off x="609600" y="1752600"/>
            <a:ext cx="5143500" cy="1009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0">
                <a:solidFill>
                  <a:srgbClr val="9FB3C8"/>
                </a:solidFill>
                <a:latin typeface="Aptos"/>
                <a:ea typeface="Aptos"/>
                <a:cs typeface="Aptos"/>
              </a:defRPr>
            </a:pPr>
            <a:r>
              <a:rPr sz="1163" b="0">
                <a:solidFill>
                  <a:srgbClr val="9FB3C8"/>
                </a:solidFill>
                <a:latin typeface="Aptos"/>
                <a:ea typeface="Aptos"/>
                <a:cs typeface="Aptos"/>
              </a:rPr>
              <a:t>The app is designed around blind and severely visually impaired users who need immediate environmental context, not a long report. The product goal is to reduce friction in everyday decision points: understanding what is ahead, checking if something changed, and asking one targeted follow-up question.</a:t>
            </a:r>
          </a:p>
        </p:txBody>
      </p:sp>
      <p:sp>
        <p:nvSpPr>
          <p:cNvPr id="8" name="Rectangle 7">
            <a:extLst>
              <a:ext uri="{FF2B5EF4-FFF2-40B4-BE49-F238E27FC236}">
                <a16:creationId xmlns:a16="http://schemas.microsoft.com/office/drawing/2014/main" id="{BBACFD28-B306-4F54-9278-6C52D7AE085A}"/>
              </a:ext>
            </a:extLst>
          </p:cNvPr>
          <p:cNvSpPr>
            <a:spLocks noGrp="1"/>
          </p:cNvSpPr>
          <p:nvPr/>
        </p:nvSpPr>
        <p:spPr>
          <a:xfrm>
            <a:off x="609600" y="3048000"/>
            <a:ext cx="5257800" cy="2743200"/>
          </a:xfrm>
          <a:prstGeom prst="rect">
            <a:avLst/>
          </a:prstGeom>
          <a:solidFill>
            <a:srgbClr val="0C1B2D"/>
          </a:solidFill>
          <a:ln w="9525">
            <a:solidFill>
              <a:srgbClr val="294562"/>
            </a:solidFill>
            <a:prstDash val="solid"/>
          </a:ln>
        </p:spPr>
      </p:sp>
      <p:sp>
        <p:nvSpPr>
          <p:cNvPr id="9" name="Rectangle 8">
            <a:extLst>
              <a:ext uri="{FF2B5EF4-FFF2-40B4-BE49-F238E27FC236}">
                <a16:creationId xmlns:a16="http://schemas.microsoft.com/office/drawing/2014/main" id="{7BAA8B27-8E25-4751-B78F-0E0E8ECDF81A}"/>
              </a:ext>
            </a:extLst>
          </p:cNvPr>
          <p:cNvSpPr>
            <a:spLocks noGrp="1"/>
          </p:cNvSpPr>
          <p:nvPr/>
        </p:nvSpPr>
        <p:spPr>
          <a:xfrm>
            <a:off x="838200" y="3276600"/>
            <a:ext cx="209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FFFFFF"/>
                </a:solidFill>
                <a:latin typeface="Aptos"/>
                <a:ea typeface="Aptos"/>
                <a:cs typeface="Aptos"/>
              </a:defRPr>
            </a:pPr>
            <a:r>
              <a:rPr sz="1200" b="1">
                <a:solidFill>
                  <a:srgbClr val="FFFFFF"/>
                </a:solidFill>
                <a:latin typeface="Aptos"/>
                <a:ea typeface="Aptos"/>
                <a:cs typeface="Aptos"/>
              </a:rPr>
              <a:t>Best-fit situations</a:t>
            </a:r>
          </a:p>
        </p:txBody>
      </p:sp>
      <p:sp>
        <p:nvSpPr>
          <p:cNvPr id="10" name="Rectangle 9">
            <a:extLst>
              <a:ext uri="{FF2B5EF4-FFF2-40B4-BE49-F238E27FC236}">
                <a16:creationId xmlns:a16="http://schemas.microsoft.com/office/drawing/2014/main" id="{CFF97A17-2B22-4F1D-93FA-496553503B8E}"/>
              </a:ext>
            </a:extLst>
          </p:cNvPr>
          <p:cNvSpPr>
            <a:spLocks noGrp="1"/>
          </p:cNvSpPr>
          <p:nvPr/>
        </p:nvSpPr>
        <p:spPr>
          <a:xfrm>
            <a:off x="838200" y="3695700"/>
            <a:ext cx="3048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1">
                <a:solidFill>
                  <a:srgbClr val="4DA3FF"/>
                </a:solidFill>
                <a:latin typeface="Aptos"/>
                <a:ea typeface="Aptos"/>
                <a:cs typeface="Aptos"/>
              </a:defRPr>
            </a:pPr>
            <a:r>
              <a:rPr sz="938" b="1">
                <a:solidFill>
                  <a:srgbClr val="4DA3FF"/>
                </a:solidFill>
                <a:latin typeface="Aptos"/>
                <a:ea typeface="Aptos"/>
                <a:cs typeface="Aptos"/>
              </a:rPr>
              <a:t>1. Approaching a crosswalk or obstacle</a:t>
            </a:r>
          </a:p>
        </p:txBody>
      </p:sp>
      <p:sp>
        <p:nvSpPr>
          <p:cNvPr id="11" name="Rectangle 10">
            <a:extLst>
              <a:ext uri="{FF2B5EF4-FFF2-40B4-BE49-F238E27FC236}">
                <a16:creationId xmlns:a16="http://schemas.microsoft.com/office/drawing/2014/main" id="{0C7AF908-B780-4E9D-9F6E-0762C426D55F}"/>
              </a:ext>
            </a:extLst>
          </p:cNvPr>
          <p:cNvSpPr>
            <a:spLocks noGrp="1"/>
          </p:cNvSpPr>
          <p:nvPr/>
        </p:nvSpPr>
        <p:spPr>
          <a:xfrm>
            <a:off x="838200" y="3905250"/>
            <a:ext cx="43624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9FB3C8"/>
                </a:solidFill>
                <a:latin typeface="Aptos"/>
                <a:ea typeface="Aptos"/>
                <a:cs typeface="Aptos"/>
              </a:defRPr>
            </a:pPr>
            <a:r>
              <a:rPr sz="788" b="0">
                <a:solidFill>
                  <a:srgbClr val="9FB3C8"/>
                </a:solidFill>
                <a:latin typeface="Aptos"/>
                <a:ea typeface="Aptos"/>
                <a:cs typeface="Aptos"/>
              </a:rPr>
              <a:t>A short critical warning can be spoken automatically when the model flags hazards or navigation risk.</a:t>
            </a:r>
          </a:p>
        </p:txBody>
      </p:sp>
      <p:sp>
        <p:nvSpPr>
          <p:cNvPr id="12" name="Rectangle 11">
            <a:extLst>
              <a:ext uri="{FF2B5EF4-FFF2-40B4-BE49-F238E27FC236}">
                <a16:creationId xmlns:a16="http://schemas.microsoft.com/office/drawing/2014/main" id="{56915859-C421-471B-8E99-83983AA76079}"/>
              </a:ext>
            </a:extLst>
          </p:cNvPr>
          <p:cNvSpPr>
            <a:spLocks noGrp="1"/>
          </p:cNvSpPr>
          <p:nvPr/>
        </p:nvSpPr>
        <p:spPr>
          <a:xfrm>
            <a:off x="838200" y="4438650"/>
            <a:ext cx="3048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1">
                <a:solidFill>
                  <a:srgbClr val="30D5C8"/>
                </a:solidFill>
                <a:latin typeface="Aptos"/>
                <a:ea typeface="Aptos"/>
                <a:cs typeface="Aptos"/>
              </a:defRPr>
            </a:pPr>
            <a:r>
              <a:rPr sz="938" b="1">
                <a:solidFill>
                  <a:srgbClr val="30D5C8"/>
                </a:solidFill>
                <a:latin typeface="Aptos"/>
                <a:ea typeface="Aptos"/>
                <a:cs typeface="Aptos"/>
              </a:rPr>
              <a:t>2. Checking layout or object placement</a:t>
            </a:r>
          </a:p>
        </p:txBody>
      </p:sp>
      <p:sp>
        <p:nvSpPr>
          <p:cNvPr id="13" name="Rectangle 12">
            <a:extLst>
              <a:ext uri="{FF2B5EF4-FFF2-40B4-BE49-F238E27FC236}">
                <a16:creationId xmlns:a16="http://schemas.microsoft.com/office/drawing/2014/main" id="{4787CF83-7F6E-4B97-B946-E37114198F88}"/>
              </a:ext>
            </a:extLst>
          </p:cNvPr>
          <p:cNvSpPr>
            <a:spLocks noGrp="1"/>
          </p:cNvSpPr>
          <p:nvPr/>
        </p:nvSpPr>
        <p:spPr>
          <a:xfrm>
            <a:off x="838200" y="4648200"/>
            <a:ext cx="43624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9FB3C8"/>
                </a:solidFill>
                <a:latin typeface="Aptos"/>
                <a:ea typeface="Aptos"/>
                <a:cs typeface="Aptos"/>
              </a:defRPr>
            </a:pPr>
            <a:r>
              <a:rPr sz="788" b="0">
                <a:solidFill>
                  <a:srgbClr val="9FB3C8"/>
                </a:solidFill>
                <a:latin typeface="Aptos"/>
                <a:ea typeface="Aptos"/>
                <a:cs typeface="Aptos"/>
              </a:rPr>
              <a:t>Useful for identifying where controls, furniture, or nearby people are relative to the user.</a:t>
            </a:r>
          </a:p>
        </p:txBody>
      </p:sp>
      <p:sp>
        <p:nvSpPr>
          <p:cNvPr id="14" name="Rectangle 13">
            <a:extLst>
              <a:ext uri="{FF2B5EF4-FFF2-40B4-BE49-F238E27FC236}">
                <a16:creationId xmlns:a16="http://schemas.microsoft.com/office/drawing/2014/main" id="{D754CC19-4D5F-4257-8DE2-BF1BCB00FCAC}"/>
              </a:ext>
            </a:extLst>
          </p:cNvPr>
          <p:cNvSpPr>
            <a:spLocks noGrp="1"/>
          </p:cNvSpPr>
          <p:nvPr/>
        </p:nvSpPr>
        <p:spPr>
          <a:xfrm>
            <a:off x="838200" y="5181600"/>
            <a:ext cx="3048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1">
                <a:solidFill>
                  <a:srgbClr val="7C6CFF"/>
                </a:solidFill>
                <a:latin typeface="Aptos"/>
                <a:ea typeface="Aptos"/>
                <a:cs typeface="Aptos"/>
              </a:defRPr>
            </a:pPr>
            <a:r>
              <a:rPr sz="938" b="1">
                <a:solidFill>
                  <a:srgbClr val="7C6CFF"/>
                </a:solidFill>
                <a:latin typeface="Aptos"/>
                <a:ea typeface="Aptos"/>
                <a:cs typeface="Aptos"/>
              </a:rPr>
              <a:t>3. Asking one follow-up question</a:t>
            </a:r>
          </a:p>
        </p:txBody>
      </p:sp>
      <p:sp>
        <p:nvSpPr>
          <p:cNvPr id="15" name="Rectangle 14">
            <a:extLst>
              <a:ext uri="{FF2B5EF4-FFF2-40B4-BE49-F238E27FC236}">
                <a16:creationId xmlns:a16="http://schemas.microsoft.com/office/drawing/2014/main" id="{73C26268-0C1B-42B9-A368-A28362E3940D}"/>
              </a:ext>
            </a:extLst>
          </p:cNvPr>
          <p:cNvSpPr>
            <a:spLocks noGrp="1"/>
          </p:cNvSpPr>
          <p:nvPr/>
        </p:nvSpPr>
        <p:spPr>
          <a:xfrm>
            <a:off x="838200" y="5391150"/>
            <a:ext cx="43624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9FB3C8"/>
                </a:solidFill>
                <a:latin typeface="Aptos"/>
                <a:ea typeface="Aptos"/>
                <a:cs typeface="Aptos"/>
              </a:defRPr>
            </a:pPr>
            <a:r>
              <a:rPr sz="788" b="0">
                <a:solidFill>
                  <a:srgbClr val="9FB3C8"/>
                </a:solidFill>
                <a:latin typeface="Aptos"/>
                <a:ea typeface="Aptos"/>
                <a:cs typeface="Aptos"/>
              </a:rPr>
              <a:t>The chat endpoint supports a short sequence of recent frames, which helps with temporal context instead of relying on a single still image.</a:t>
            </a:r>
          </a:p>
        </p:txBody>
      </p:sp>
      <p:sp>
        <p:nvSpPr>
          <p:cNvPr id="16" name="Rectangle 15">
            <a:extLst>
              <a:ext uri="{FF2B5EF4-FFF2-40B4-BE49-F238E27FC236}">
                <a16:creationId xmlns:a16="http://schemas.microsoft.com/office/drawing/2014/main" id="{ABD099F6-9F8C-4595-B2DD-76A59A1BBA61}"/>
              </a:ext>
            </a:extLst>
          </p:cNvPr>
          <p:cNvSpPr>
            <a:spLocks noGrp="1"/>
          </p:cNvSpPr>
          <p:nvPr/>
        </p:nvSpPr>
        <p:spPr>
          <a:xfrm>
            <a:off x="6553200" y="3200400"/>
            <a:ext cx="1428750" cy="876300"/>
          </a:xfrm>
          <a:prstGeom prst="rect">
            <a:avLst/>
          </a:prstGeom>
          <a:solidFill>
            <a:srgbClr val="122B45"/>
          </a:solidFill>
          <a:ln w="9525">
            <a:solidFill>
              <a:srgbClr val="294562"/>
            </a:solidFill>
            <a:prstDash val="solid"/>
          </a:ln>
        </p:spPr>
      </p:sp>
      <p:sp>
        <p:nvSpPr>
          <p:cNvPr id="17" name="Rectangle 16">
            <a:extLst>
              <a:ext uri="{FF2B5EF4-FFF2-40B4-BE49-F238E27FC236}">
                <a16:creationId xmlns:a16="http://schemas.microsoft.com/office/drawing/2014/main" id="{0A9D3969-43DD-456C-832A-BA416F963C07}"/>
              </a:ext>
            </a:extLst>
          </p:cNvPr>
          <p:cNvSpPr>
            <a:spLocks noGrp="1"/>
          </p:cNvSpPr>
          <p:nvPr/>
        </p:nvSpPr>
        <p:spPr>
          <a:xfrm>
            <a:off x="6686550" y="3314700"/>
            <a:ext cx="1162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FFFFFF"/>
                </a:solidFill>
                <a:latin typeface="Aptos"/>
                <a:ea typeface="Aptos"/>
                <a:cs typeface="Aptos"/>
              </a:defRPr>
            </a:pPr>
            <a:r>
              <a:rPr sz="1050" b="1">
                <a:solidFill>
                  <a:srgbClr val="FFFFFF"/>
                </a:solidFill>
                <a:latin typeface="Aptos"/>
                <a:ea typeface="Aptos"/>
                <a:cs typeface="Aptos"/>
              </a:rPr>
              <a:t>Capture</a:t>
            </a:r>
          </a:p>
        </p:txBody>
      </p:sp>
      <p:sp>
        <p:nvSpPr>
          <p:cNvPr id="18" name="Rectangle 17">
            <a:extLst>
              <a:ext uri="{FF2B5EF4-FFF2-40B4-BE49-F238E27FC236}">
                <a16:creationId xmlns:a16="http://schemas.microsoft.com/office/drawing/2014/main" id="{0B193C09-20FB-4A10-ACD6-0800673C50F7}"/>
              </a:ext>
            </a:extLst>
          </p:cNvPr>
          <p:cNvSpPr>
            <a:spLocks noGrp="1"/>
          </p:cNvSpPr>
          <p:nvPr/>
        </p:nvSpPr>
        <p:spPr>
          <a:xfrm>
            <a:off x="6705600" y="3562350"/>
            <a:ext cx="11239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9FB3C8"/>
                </a:solidFill>
                <a:latin typeface="Aptos"/>
                <a:ea typeface="Aptos"/>
                <a:cs typeface="Aptos"/>
              </a:defRPr>
            </a:pPr>
            <a:r>
              <a:rPr sz="788" b="0">
                <a:solidFill>
                  <a:srgbClr val="9FB3C8"/>
                </a:solidFill>
                <a:latin typeface="Aptos"/>
                <a:ea typeface="Aptos"/>
                <a:cs typeface="Aptos"/>
              </a:rPr>
              <a:t>single shot or live mode</a:t>
            </a:r>
          </a:p>
        </p:txBody>
      </p:sp>
      <p:sp>
        <p:nvSpPr>
          <p:cNvPr id="19" name="Rectangle 18">
            <a:extLst>
              <a:ext uri="{FF2B5EF4-FFF2-40B4-BE49-F238E27FC236}">
                <a16:creationId xmlns:a16="http://schemas.microsoft.com/office/drawing/2014/main" id="{2693C108-0604-4A88-B035-EBF66A75A728}"/>
              </a:ext>
            </a:extLst>
          </p:cNvPr>
          <p:cNvSpPr>
            <a:spLocks noGrp="1"/>
          </p:cNvSpPr>
          <p:nvPr/>
        </p:nvSpPr>
        <p:spPr>
          <a:xfrm>
            <a:off x="8058150" y="3638550"/>
            <a:ext cx="419100" cy="19050"/>
          </a:xfrm>
          <a:prstGeom prst="rect">
            <a:avLst/>
          </a:prstGeom>
          <a:solidFill>
            <a:srgbClr val="4DA3FF"/>
          </a:solidFill>
          <a:ln w="0">
            <a:solidFill>
              <a:srgbClr val="000000">
                <a:alpha val="0"/>
              </a:srgbClr>
            </a:solidFill>
            <a:prstDash val="solid"/>
          </a:ln>
        </p:spPr>
      </p:sp>
      <p:sp>
        <p:nvSpPr>
          <p:cNvPr id="20" name="Rectangle 19">
            <a:extLst>
              <a:ext uri="{FF2B5EF4-FFF2-40B4-BE49-F238E27FC236}">
                <a16:creationId xmlns:a16="http://schemas.microsoft.com/office/drawing/2014/main" id="{B9E14D99-E31D-4261-8BED-A6280BFB7AAA}"/>
              </a:ext>
            </a:extLst>
          </p:cNvPr>
          <p:cNvSpPr>
            <a:spLocks noGrp="1"/>
          </p:cNvSpPr>
          <p:nvPr/>
        </p:nvSpPr>
        <p:spPr>
          <a:xfrm>
            <a:off x="8401050" y="3600450"/>
            <a:ext cx="76200" cy="76200"/>
          </a:xfrm>
          <a:prstGeom prst="rect">
            <a:avLst/>
          </a:prstGeom>
          <a:solidFill>
            <a:srgbClr val="4DA3FF"/>
          </a:solidFill>
          <a:ln w="0">
            <a:solidFill>
              <a:srgbClr val="000000">
                <a:alpha val="0"/>
              </a:srgbClr>
            </a:solidFill>
            <a:prstDash val="solid"/>
          </a:ln>
        </p:spPr>
      </p:sp>
      <p:sp>
        <p:nvSpPr>
          <p:cNvPr id="21" name="Rectangle 20">
            <a:extLst>
              <a:ext uri="{FF2B5EF4-FFF2-40B4-BE49-F238E27FC236}">
                <a16:creationId xmlns:a16="http://schemas.microsoft.com/office/drawing/2014/main" id="{1BEE5092-27A1-471E-AED3-94A0B58A654F}"/>
              </a:ext>
            </a:extLst>
          </p:cNvPr>
          <p:cNvSpPr>
            <a:spLocks noGrp="1"/>
          </p:cNvSpPr>
          <p:nvPr/>
        </p:nvSpPr>
        <p:spPr>
          <a:xfrm>
            <a:off x="8515350" y="3200400"/>
            <a:ext cx="1428750" cy="876300"/>
          </a:xfrm>
          <a:prstGeom prst="rect">
            <a:avLst/>
          </a:prstGeom>
          <a:solidFill>
            <a:srgbClr val="122B45"/>
          </a:solidFill>
          <a:ln w="9525">
            <a:solidFill>
              <a:srgbClr val="294562"/>
            </a:solidFill>
            <a:prstDash val="solid"/>
          </a:ln>
        </p:spPr>
      </p:sp>
      <p:sp>
        <p:nvSpPr>
          <p:cNvPr id="22" name="Rectangle 21">
            <a:extLst>
              <a:ext uri="{FF2B5EF4-FFF2-40B4-BE49-F238E27FC236}">
                <a16:creationId xmlns:a16="http://schemas.microsoft.com/office/drawing/2014/main" id="{71AE07DA-984D-45D2-8A81-14DD7F561117}"/>
              </a:ext>
            </a:extLst>
          </p:cNvPr>
          <p:cNvSpPr>
            <a:spLocks noGrp="1"/>
          </p:cNvSpPr>
          <p:nvPr/>
        </p:nvSpPr>
        <p:spPr>
          <a:xfrm>
            <a:off x="8648700" y="3314700"/>
            <a:ext cx="1162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FFFFFF"/>
                </a:solidFill>
                <a:latin typeface="Aptos"/>
                <a:ea typeface="Aptos"/>
                <a:cs typeface="Aptos"/>
              </a:defRPr>
            </a:pPr>
            <a:r>
              <a:rPr sz="1050" b="1">
                <a:solidFill>
                  <a:srgbClr val="FFFFFF"/>
                </a:solidFill>
                <a:latin typeface="Aptos"/>
                <a:ea typeface="Aptos"/>
                <a:cs typeface="Aptos"/>
              </a:rPr>
              <a:t>Describe</a:t>
            </a:r>
          </a:p>
        </p:txBody>
      </p:sp>
      <p:sp>
        <p:nvSpPr>
          <p:cNvPr id="23" name="Rectangle 22">
            <a:extLst>
              <a:ext uri="{FF2B5EF4-FFF2-40B4-BE49-F238E27FC236}">
                <a16:creationId xmlns:a16="http://schemas.microsoft.com/office/drawing/2014/main" id="{36E1C957-21F3-40E9-A7D4-783C6879E593}"/>
              </a:ext>
            </a:extLst>
          </p:cNvPr>
          <p:cNvSpPr>
            <a:spLocks noGrp="1"/>
          </p:cNvSpPr>
          <p:nvPr/>
        </p:nvSpPr>
        <p:spPr>
          <a:xfrm>
            <a:off x="8667750" y="3562350"/>
            <a:ext cx="11239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9FB3C8"/>
                </a:solidFill>
                <a:latin typeface="Aptos"/>
                <a:ea typeface="Aptos"/>
                <a:cs typeface="Aptos"/>
              </a:defRPr>
            </a:pPr>
            <a:r>
              <a:rPr sz="788" b="0">
                <a:solidFill>
                  <a:srgbClr val="9FB3C8"/>
                </a:solidFill>
                <a:latin typeface="Aptos"/>
                <a:ea typeface="Aptos"/>
                <a:cs typeface="Aptos"/>
              </a:rPr>
              <a:t>concise JSON response</a:t>
            </a:r>
          </a:p>
        </p:txBody>
      </p:sp>
      <p:sp>
        <p:nvSpPr>
          <p:cNvPr id="24" name="Rectangle 23">
            <a:extLst>
              <a:ext uri="{FF2B5EF4-FFF2-40B4-BE49-F238E27FC236}">
                <a16:creationId xmlns:a16="http://schemas.microsoft.com/office/drawing/2014/main" id="{A0DEA65E-A0C2-4F88-A7A8-4D3BBC0CDA35}"/>
              </a:ext>
            </a:extLst>
          </p:cNvPr>
          <p:cNvSpPr>
            <a:spLocks noGrp="1"/>
          </p:cNvSpPr>
          <p:nvPr/>
        </p:nvSpPr>
        <p:spPr>
          <a:xfrm>
            <a:off x="10020300" y="3638550"/>
            <a:ext cx="419100" cy="19050"/>
          </a:xfrm>
          <a:prstGeom prst="rect">
            <a:avLst/>
          </a:prstGeom>
          <a:solidFill>
            <a:srgbClr val="4DA3FF"/>
          </a:solidFill>
          <a:ln w="0">
            <a:solidFill>
              <a:srgbClr val="000000">
                <a:alpha val="0"/>
              </a:srgbClr>
            </a:solidFill>
            <a:prstDash val="solid"/>
          </a:ln>
        </p:spPr>
      </p:sp>
      <p:sp>
        <p:nvSpPr>
          <p:cNvPr id="25" name="Rectangle 24">
            <a:extLst>
              <a:ext uri="{FF2B5EF4-FFF2-40B4-BE49-F238E27FC236}">
                <a16:creationId xmlns:a16="http://schemas.microsoft.com/office/drawing/2014/main" id="{A22CFE63-9711-40E3-9F93-34B56C06C5DA}"/>
              </a:ext>
            </a:extLst>
          </p:cNvPr>
          <p:cNvSpPr>
            <a:spLocks noGrp="1"/>
          </p:cNvSpPr>
          <p:nvPr/>
        </p:nvSpPr>
        <p:spPr>
          <a:xfrm>
            <a:off x="10363200" y="3600450"/>
            <a:ext cx="76200" cy="76200"/>
          </a:xfrm>
          <a:prstGeom prst="rect">
            <a:avLst/>
          </a:prstGeom>
          <a:solidFill>
            <a:srgbClr val="4DA3FF"/>
          </a:solidFill>
          <a:ln w="0">
            <a:solidFill>
              <a:srgbClr val="000000">
                <a:alpha val="0"/>
              </a:srgbClr>
            </a:solidFill>
            <a:prstDash val="solid"/>
          </a:ln>
        </p:spPr>
      </p:sp>
      <p:sp>
        <p:nvSpPr>
          <p:cNvPr id="26" name="Rectangle 25">
            <a:extLst>
              <a:ext uri="{FF2B5EF4-FFF2-40B4-BE49-F238E27FC236}">
                <a16:creationId xmlns:a16="http://schemas.microsoft.com/office/drawing/2014/main" id="{1B80D940-26FB-46EB-9A37-147E31EAFD4E}"/>
              </a:ext>
            </a:extLst>
          </p:cNvPr>
          <p:cNvSpPr>
            <a:spLocks noGrp="1"/>
          </p:cNvSpPr>
          <p:nvPr/>
        </p:nvSpPr>
        <p:spPr>
          <a:xfrm>
            <a:off x="10477500" y="3200400"/>
            <a:ext cx="1085850" cy="876300"/>
          </a:xfrm>
          <a:prstGeom prst="rect">
            <a:avLst/>
          </a:prstGeom>
          <a:solidFill>
            <a:srgbClr val="122B45"/>
          </a:solidFill>
          <a:ln w="9525">
            <a:solidFill>
              <a:srgbClr val="294562"/>
            </a:solidFill>
            <a:prstDash val="solid"/>
          </a:ln>
        </p:spPr>
      </p:sp>
      <p:sp>
        <p:nvSpPr>
          <p:cNvPr id="27" name="Rectangle 26">
            <a:extLst>
              <a:ext uri="{FF2B5EF4-FFF2-40B4-BE49-F238E27FC236}">
                <a16:creationId xmlns:a16="http://schemas.microsoft.com/office/drawing/2014/main" id="{AE522691-2CE4-41B1-BD84-629DC168B522}"/>
              </a:ext>
            </a:extLst>
          </p:cNvPr>
          <p:cNvSpPr>
            <a:spLocks noGrp="1"/>
          </p:cNvSpPr>
          <p:nvPr/>
        </p:nvSpPr>
        <p:spPr>
          <a:xfrm>
            <a:off x="10610850" y="3314700"/>
            <a:ext cx="819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FFFFFF"/>
                </a:solidFill>
                <a:latin typeface="Aptos"/>
                <a:ea typeface="Aptos"/>
                <a:cs typeface="Aptos"/>
              </a:defRPr>
            </a:pPr>
            <a:r>
              <a:rPr sz="1050" b="1">
                <a:solidFill>
                  <a:srgbClr val="FFFFFF"/>
                </a:solidFill>
                <a:latin typeface="Aptos"/>
                <a:ea typeface="Aptos"/>
                <a:cs typeface="Aptos"/>
              </a:rPr>
              <a:t>Speak</a:t>
            </a:r>
          </a:p>
        </p:txBody>
      </p:sp>
      <p:sp>
        <p:nvSpPr>
          <p:cNvPr id="28" name="Rectangle 27">
            <a:extLst>
              <a:ext uri="{FF2B5EF4-FFF2-40B4-BE49-F238E27FC236}">
                <a16:creationId xmlns:a16="http://schemas.microsoft.com/office/drawing/2014/main" id="{E91112A9-72A2-4975-A6B4-E0F7177FEBFF}"/>
              </a:ext>
            </a:extLst>
          </p:cNvPr>
          <p:cNvSpPr>
            <a:spLocks noGrp="1"/>
          </p:cNvSpPr>
          <p:nvPr/>
        </p:nvSpPr>
        <p:spPr>
          <a:xfrm>
            <a:off x="10629900" y="3562350"/>
            <a:ext cx="7810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9FB3C8"/>
                </a:solidFill>
                <a:latin typeface="Aptos"/>
                <a:ea typeface="Aptos"/>
                <a:cs typeface="Aptos"/>
              </a:defRPr>
            </a:pPr>
            <a:r>
              <a:rPr sz="788" b="0">
                <a:solidFill>
                  <a:srgbClr val="9FB3C8"/>
                </a:solidFill>
                <a:latin typeface="Aptos"/>
                <a:ea typeface="Aptos"/>
                <a:cs typeface="Aptos"/>
              </a:rPr>
              <a:t>critical cues first</a:t>
            </a:r>
          </a:p>
        </p:txBody>
      </p:sp>
      <p:sp>
        <p:nvSpPr>
          <p:cNvPr id="29" name="Rectangle 28">
            <a:extLst>
              <a:ext uri="{FF2B5EF4-FFF2-40B4-BE49-F238E27FC236}">
                <a16:creationId xmlns:a16="http://schemas.microsoft.com/office/drawing/2014/main" id="{AF9D13D7-54D2-42F7-A5A9-AD5952EFFF0A}"/>
              </a:ext>
            </a:extLst>
          </p:cNvPr>
          <p:cNvSpPr>
            <a:spLocks noGrp="1"/>
          </p:cNvSpPr>
          <p:nvPr/>
        </p:nvSpPr>
        <p:spPr>
          <a:xfrm>
            <a:off x="6553200" y="4476750"/>
            <a:ext cx="1428750" cy="876300"/>
          </a:xfrm>
          <a:prstGeom prst="rect">
            <a:avLst/>
          </a:prstGeom>
          <a:solidFill>
            <a:srgbClr val="122B45"/>
          </a:solidFill>
          <a:ln w="9525">
            <a:solidFill>
              <a:srgbClr val="294562"/>
            </a:solidFill>
            <a:prstDash val="solid"/>
          </a:ln>
        </p:spPr>
      </p:sp>
      <p:sp>
        <p:nvSpPr>
          <p:cNvPr id="30" name="Rectangle 29">
            <a:extLst>
              <a:ext uri="{FF2B5EF4-FFF2-40B4-BE49-F238E27FC236}">
                <a16:creationId xmlns:a16="http://schemas.microsoft.com/office/drawing/2014/main" id="{DA5CB464-B520-44FB-85DD-A241C9BC7F9D}"/>
              </a:ext>
            </a:extLst>
          </p:cNvPr>
          <p:cNvSpPr>
            <a:spLocks noGrp="1"/>
          </p:cNvSpPr>
          <p:nvPr/>
        </p:nvSpPr>
        <p:spPr>
          <a:xfrm>
            <a:off x="6686550" y="4591050"/>
            <a:ext cx="1162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FFFFFF"/>
                </a:solidFill>
                <a:latin typeface="Aptos"/>
                <a:ea typeface="Aptos"/>
                <a:cs typeface="Aptos"/>
              </a:defRPr>
            </a:pPr>
            <a:r>
              <a:rPr sz="1050" b="1">
                <a:solidFill>
                  <a:srgbClr val="FFFFFF"/>
                </a:solidFill>
                <a:latin typeface="Aptos"/>
                <a:ea typeface="Aptos"/>
                <a:cs typeface="Aptos"/>
              </a:rPr>
              <a:t>Ask</a:t>
            </a:r>
          </a:p>
        </p:txBody>
      </p:sp>
      <p:sp>
        <p:nvSpPr>
          <p:cNvPr id="31" name="Rectangle 30">
            <a:extLst>
              <a:ext uri="{FF2B5EF4-FFF2-40B4-BE49-F238E27FC236}">
                <a16:creationId xmlns:a16="http://schemas.microsoft.com/office/drawing/2014/main" id="{DB53AEDA-19A2-4D63-95F3-F2CCB543C432}"/>
              </a:ext>
            </a:extLst>
          </p:cNvPr>
          <p:cNvSpPr>
            <a:spLocks noGrp="1"/>
          </p:cNvSpPr>
          <p:nvPr/>
        </p:nvSpPr>
        <p:spPr>
          <a:xfrm>
            <a:off x="6705600" y="4838700"/>
            <a:ext cx="11239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9FB3C8"/>
                </a:solidFill>
                <a:latin typeface="Aptos"/>
                <a:ea typeface="Aptos"/>
                <a:cs typeface="Aptos"/>
              </a:defRPr>
            </a:pPr>
            <a:r>
              <a:rPr sz="788" b="0">
                <a:solidFill>
                  <a:srgbClr val="9FB3C8"/>
                </a:solidFill>
                <a:latin typeface="Aptos"/>
                <a:ea typeface="Aptos"/>
                <a:cs typeface="Aptos"/>
              </a:rPr>
              <a:t>voice or text follow-up</a:t>
            </a:r>
          </a:p>
        </p:txBody>
      </p:sp>
      <p:sp>
        <p:nvSpPr>
          <p:cNvPr id="32" name="Rectangle 31">
            <a:extLst>
              <a:ext uri="{FF2B5EF4-FFF2-40B4-BE49-F238E27FC236}">
                <a16:creationId xmlns:a16="http://schemas.microsoft.com/office/drawing/2014/main" id="{FD2A4DCD-425C-42F2-A0D6-3DE4B8A4E9B9}"/>
              </a:ext>
            </a:extLst>
          </p:cNvPr>
          <p:cNvSpPr>
            <a:spLocks noGrp="1"/>
          </p:cNvSpPr>
          <p:nvPr/>
        </p:nvSpPr>
        <p:spPr>
          <a:xfrm>
            <a:off x="8058150" y="4914900"/>
            <a:ext cx="419100" cy="19050"/>
          </a:xfrm>
          <a:prstGeom prst="rect">
            <a:avLst/>
          </a:prstGeom>
          <a:solidFill>
            <a:srgbClr val="30D5C8"/>
          </a:solidFill>
          <a:ln w="0">
            <a:solidFill>
              <a:srgbClr val="000000">
                <a:alpha val="0"/>
              </a:srgbClr>
            </a:solidFill>
            <a:prstDash val="solid"/>
          </a:ln>
        </p:spPr>
      </p:sp>
      <p:sp>
        <p:nvSpPr>
          <p:cNvPr id="33" name="Rectangle 32">
            <a:extLst>
              <a:ext uri="{FF2B5EF4-FFF2-40B4-BE49-F238E27FC236}">
                <a16:creationId xmlns:a16="http://schemas.microsoft.com/office/drawing/2014/main" id="{CDF0D656-6DD0-4BDF-B87E-B15B3742F6C1}"/>
              </a:ext>
            </a:extLst>
          </p:cNvPr>
          <p:cNvSpPr>
            <a:spLocks noGrp="1"/>
          </p:cNvSpPr>
          <p:nvPr/>
        </p:nvSpPr>
        <p:spPr>
          <a:xfrm>
            <a:off x="8401050" y="4876800"/>
            <a:ext cx="76200" cy="76200"/>
          </a:xfrm>
          <a:prstGeom prst="rect">
            <a:avLst/>
          </a:prstGeom>
          <a:solidFill>
            <a:srgbClr val="30D5C8"/>
          </a:solidFill>
          <a:ln w="0">
            <a:solidFill>
              <a:srgbClr val="000000">
                <a:alpha val="0"/>
              </a:srgbClr>
            </a:solidFill>
            <a:prstDash val="solid"/>
          </a:ln>
        </p:spPr>
      </p:sp>
      <p:sp>
        <p:nvSpPr>
          <p:cNvPr id="34" name="Rectangle 33">
            <a:extLst>
              <a:ext uri="{FF2B5EF4-FFF2-40B4-BE49-F238E27FC236}">
                <a16:creationId xmlns:a16="http://schemas.microsoft.com/office/drawing/2014/main" id="{A85DFC79-8DC5-44B0-A2CB-39C65E98D43B}"/>
              </a:ext>
            </a:extLst>
          </p:cNvPr>
          <p:cNvSpPr>
            <a:spLocks noGrp="1"/>
          </p:cNvSpPr>
          <p:nvPr/>
        </p:nvSpPr>
        <p:spPr>
          <a:xfrm>
            <a:off x="8515350" y="4476750"/>
            <a:ext cx="1428750" cy="876300"/>
          </a:xfrm>
          <a:prstGeom prst="rect">
            <a:avLst/>
          </a:prstGeom>
          <a:solidFill>
            <a:srgbClr val="122B45"/>
          </a:solidFill>
          <a:ln w="9525">
            <a:solidFill>
              <a:srgbClr val="294562"/>
            </a:solidFill>
            <a:prstDash val="solid"/>
          </a:ln>
        </p:spPr>
      </p:sp>
      <p:sp>
        <p:nvSpPr>
          <p:cNvPr id="35" name="Rectangle 34">
            <a:extLst>
              <a:ext uri="{FF2B5EF4-FFF2-40B4-BE49-F238E27FC236}">
                <a16:creationId xmlns:a16="http://schemas.microsoft.com/office/drawing/2014/main" id="{97493DA2-BFFA-4C98-AA3A-F8FD23128350}"/>
              </a:ext>
            </a:extLst>
          </p:cNvPr>
          <p:cNvSpPr>
            <a:spLocks noGrp="1"/>
          </p:cNvSpPr>
          <p:nvPr/>
        </p:nvSpPr>
        <p:spPr>
          <a:xfrm>
            <a:off x="8648700" y="4591050"/>
            <a:ext cx="11620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FFFFFF"/>
                </a:solidFill>
                <a:latin typeface="Aptos"/>
                <a:ea typeface="Aptos"/>
                <a:cs typeface="Aptos"/>
              </a:defRPr>
            </a:pPr>
            <a:r>
              <a:rPr sz="1050" b="1">
                <a:solidFill>
                  <a:srgbClr val="FFFFFF"/>
                </a:solidFill>
                <a:latin typeface="Aptos"/>
                <a:ea typeface="Aptos"/>
                <a:cs typeface="Aptos"/>
              </a:rPr>
              <a:t>Answer</a:t>
            </a:r>
          </a:p>
        </p:txBody>
      </p:sp>
      <p:sp>
        <p:nvSpPr>
          <p:cNvPr id="36" name="Rectangle 35">
            <a:extLst>
              <a:ext uri="{FF2B5EF4-FFF2-40B4-BE49-F238E27FC236}">
                <a16:creationId xmlns:a16="http://schemas.microsoft.com/office/drawing/2014/main" id="{9F5904D9-56E4-4780-90EF-9A45039562BC}"/>
              </a:ext>
            </a:extLst>
          </p:cNvPr>
          <p:cNvSpPr>
            <a:spLocks noGrp="1"/>
          </p:cNvSpPr>
          <p:nvPr/>
        </p:nvSpPr>
        <p:spPr>
          <a:xfrm>
            <a:off x="8667750" y="4838700"/>
            <a:ext cx="11239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9FB3C8"/>
                </a:solidFill>
                <a:latin typeface="Aptos"/>
                <a:ea typeface="Aptos"/>
                <a:cs typeface="Aptos"/>
              </a:defRPr>
            </a:pPr>
            <a:r>
              <a:rPr sz="788" b="0">
                <a:solidFill>
                  <a:srgbClr val="9FB3C8"/>
                </a:solidFill>
                <a:latin typeface="Aptos"/>
                <a:ea typeface="Aptos"/>
                <a:cs typeface="Aptos"/>
              </a:rPr>
              <a:t>short, spatially precise</a:t>
            </a:r>
          </a:p>
        </p:txBody>
      </p:sp>
      <p:sp>
        <p:nvSpPr>
          <p:cNvPr id="37" name="Rectangle 36">
            <a:extLst>
              <a:ext uri="{FF2B5EF4-FFF2-40B4-BE49-F238E27FC236}">
                <a16:creationId xmlns:a16="http://schemas.microsoft.com/office/drawing/2014/main" id="{2490B922-88C5-412F-B9F8-68951AA8BDAF}"/>
              </a:ext>
            </a:extLst>
          </p:cNvPr>
          <p:cNvSpPr>
            <a:spLocks noGrp="1"/>
          </p:cNvSpPr>
          <p:nvPr/>
        </p:nvSpPr>
        <p:spPr>
          <a:xfrm>
            <a:off x="10020300" y="4914900"/>
            <a:ext cx="419100" cy="19050"/>
          </a:xfrm>
          <a:prstGeom prst="rect">
            <a:avLst/>
          </a:prstGeom>
          <a:solidFill>
            <a:srgbClr val="30D5C8"/>
          </a:solidFill>
          <a:ln w="0">
            <a:solidFill>
              <a:srgbClr val="000000">
                <a:alpha val="0"/>
              </a:srgbClr>
            </a:solidFill>
            <a:prstDash val="solid"/>
          </a:ln>
        </p:spPr>
      </p:sp>
      <p:sp>
        <p:nvSpPr>
          <p:cNvPr id="38" name="Rectangle 37">
            <a:extLst>
              <a:ext uri="{FF2B5EF4-FFF2-40B4-BE49-F238E27FC236}">
                <a16:creationId xmlns:a16="http://schemas.microsoft.com/office/drawing/2014/main" id="{68DFF638-6831-4657-B65A-7EECF8EB772F}"/>
              </a:ext>
            </a:extLst>
          </p:cNvPr>
          <p:cNvSpPr>
            <a:spLocks noGrp="1"/>
          </p:cNvSpPr>
          <p:nvPr/>
        </p:nvSpPr>
        <p:spPr>
          <a:xfrm>
            <a:off x="10363200" y="4876800"/>
            <a:ext cx="76200" cy="76200"/>
          </a:xfrm>
          <a:prstGeom prst="rect">
            <a:avLst/>
          </a:prstGeom>
          <a:solidFill>
            <a:srgbClr val="30D5C8"/>
          </a:solidFill>
          <a:ln w="0">
            <a:solidFill>
              <a:srgbClr val="000000">
                <a:alpha val="0"/>
              </a:srgbClr>
            </a:solidFill>
            <a:prstDash val="solid"/>
          </a:ln>
        </p:spPr>
      </p:sp>
      <p:sp>
        <p:nvSpPr>
          <p:cNvPr id="39" name="Rectangle 38">
            <a:extLst>
              <a:ext uri="{FF2B5EF4-FFF2-40B4-BE49-F238E27FC236}">
                <a16:creationId xmlns:a16="http://schemas.microsoft.com/office/drawing/2014/main" id="{296A26C6-8633-445D-9DF0-0FE0A6B0C874}"/>
              </a:ext>
            </a:extLst>
          </p:cNvPr>
          <p:cNvSpPr>
            <a:spLocks noGrp="1"/>
          </p:cNvSpPr>
          <p:nvPr/>
        </p:nvSpPr>
        <p:spPr>
          <a:xfrm>
            <a:off x="10477500" y="4476750"/>
            <a:ext cx="1085850" cy="876300"/>
          </a:xfrm>
          <a:prstGeom prst="rect">
            <a:avLst/>
          </a:prstGeom>
          <a:solidFill>
            <a:srgbClr val="122B45"/>
          </a:solidFill>
          <a:ln w="9525">
            <a:solidFill>
              <a:srgbClr val="294562"/>
            </a:solidFill>
            <a:prstDash val="solid"/>
          </a:ln>
        </p:spPr>
      </p:sp>
      <p:sp>
        <p:nvSpPr>
          <p:cNvPr id="40" name="Rectangle 39">
            <a:extLst>
              <a:ext uri="{FF2B5EF4-FFF2-40B4-BE49-F238E27FC236}">
                <a16:creationId xmlns:a16="http://schemas.microsoft.com/office/drawing/2014/main" id="{661787C0-50B4-48EA-B7D0-89FACB4A678B}"/>
              </a:ext>
            </a:extLst>
          </p:cNvPr>
          <p:cNvSpPr>
            <a:spLocks noGrp="1"/>
          </p:cNvSpPr>
          <p:nvPr/>
        </p:nvSpPr>
        <p:spPr>
          <a:xfrm>
            <a:off x="10610850" y="4591050"/>
            <a:ext cx="819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FFFFFF"/>
                </a:solidFill>
                <a:latin typeface="Aptos"/>
                <a:ea typeface="Aptos"/>
                <a:cs typeface="Aptos"/>
              </a:defRPr>
            </a:pPr>
            <a:r>
              <a:rPr sz="1050" b="1">
                <a:solidFill>
                  <a:srgbClr val="FFFFFF"/>
                </a:solidFill>
                <a:latin typeface="Aptos"/>
                <a:ea typeface="Aptos"/>
                <a:cs typeface="Aptos"/>
              </a:rPr>
              <a:t>Replay</a:t>
            </a:r>
          </a:p>
        </p:txBody>
      </p:sp>
      <p:sp>
        <p:nvSpPr>
          <p:cNvPr id="41" name="Rectangle 40">
            <a:extLst>
              <a:ext uri="{FF2B5EF4-FFF2-40B4-BE49-F238E27FC236}">
                <a16:creationId xmlns:a16="http://schemas.microsoft.com/office/drawing/2014/main" id="{6BA714F5-8A93-4D16-AB8F-26F9CD1C662D}"/>
              </a:ext>
            </a:extLst>
          </p:cNvPr>
          <p:cNvSpPr>
            <a:spLocks noGrp="1"/>
          </p:cNvSpPr>
          <p:nvPr/>
        </p:nvSpPr>
        <p:spPr>
          <a:xfrm>
            <a:off x="10629900" y="4838700"/>
            <a:ext cx="7810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9FB3C8"/>
                </a:solidFill>
                <a:latin typeface="Aptos"/>
                <a:ea typeface="Aptos"/>
                <a:cs typeface="Aptos"/>
              </a:defRPr>
            </a:pPr>
            <a:r>
              <a:rPr sz="788" b="0">
                <a:solidFill>
                  <a:srgbClr val="9FB3C8"/>
                </a:solidFill>
                <a:latin typeface="Aptos"/>
                <a:ea typeface="Aptos"/>
                <a:cs typeface="Aptos"/>
              </a:rPr>
              <a:t>spoken again on demand</a:t>
            </a:r>
          </a:p>
        </p:txBody>
      </p:sp>
      <p:sp>
        <p:nvSpPr>
          <p:cNvPr id="42" name="Rectangle 41">
            <a:extLst>
              <a:ext uri="{FF2B5EF4-FFF2-40B4-BE49-F238E27FC236}">
                <a16:creationId xmlns:a16="http://schemas.microsoft.com/office/drawing/2014/main" id="{9A856D7B-684B-4F31-9E14-94E59B1AEBAF}"/>
              </a:ext>
            </a:extLst>
          </p:cNvPr>
          <p:cNvSpPr>
            <a:spLocks noGrp="1"/>
          </p:cNvSpPr>
          <p:nvPr/>
        </p:nvSpPr>
        <p:spPr>
          <a:xfrm>
            <a:off x="609600" y="6515100"/>
            <a:ext cx="10972800" cy="9525"/>
          </a:xfrm>
          <a:prstGeom prst="rect">
            <a:avLst/>
          </a:prstGeom>
          <a:solidFill>
            <a:srgbClr val="294562"/>
          </a:solidFill>
          <a:ln w="0">
            <a:solidFill>
              <a:srgbClr val="000000">
                <a:alpha val="0"/>
              </a:srgbClr>
            </a:solidFill>
            <a:prstDash val="solid"/>
          </a:ln>
        </p:spPr>
      </p:sp>
      <p:sp>
        <p:nvSpPr>
          <p:cNvPr id="43" name="Rectangle 42">
            <a:extLst>
              <a:ext uri="{FF2B5EF4-FFF2-40B4-BE49-F238E27FC236}">
                <a16:creationId xmlns:a16="http://schemas.microsoft.com/office/drawing/2014/main" id="{2B86AB13-C9AA-4290-B699-6B394B0BA68B}"/>
              </a:ext>
            </a:extLst>
          </p:cNvPr>
          <p:cNvSpPr>
            <a:spLocks noGrp="1"/>
          </p:cNvSpPr>
          <p:nvPr/>
        </p:nvSpPr>
        <p:spPr>
          <a:xfrm>
            <a:off x="609600" y="6581775"/>
            <a:ext cx="93345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00" b="0">
                <a:solidFill>
                  <a:srgbClr val="7E96B0"/>
                </a:solidFill>
                <a:latin typeface="Aptos"/>
                <a:ea typeface="Aptos"/>
                <a:cs typeface="Aptos"/>
              </a:defRPr>
            </a:pPr>
            <a:r>
              <a:rPr sz="600" b="0">
                <a:solidFill>
                  <a:srgbClr val="7E96B0"/>
                </a:solidFill>
                <a:latin typeface="Aptos"/>
                <a:ea typeface="Aptos"/>
                <a:cs typeface="Aptos"/>
              </a:rPr>
              <a:t>Source: README.md, frontend/src/pages/SceneAssistantPage.tsx, backend/app/routers/chat.py</a:t>
            </a:r>
          </a:p>
        </p:txBody>
      </p:sp>
      <p:sp>
        <p:nvSpPr>
          <p:cNvPr id="44" name="Rectangle 43">
            <a:extLst>
              <a:ext uri="{FF2B5EF4-FFF2-40B4-BE49-F238E27FC236}">
                <a16:creationId xmlns:a16="http://schemas.microsoft.com/office/drawing/2014/main" id="{11CED036-EB6D-4085-ADAE-4A8B3854CCCE}"/>
              </a:ext>
            </a:extLst>
          </p:cNvPr>
          <p:cNvSpPr>
            <a:spLocks noGrp="1"/>
          </p:cNvSpPr>
          <p:nvPr/>
        </p:nvSpPr>
        <p:spPr>
          <a:xfrm>
            <a:off x="11125200" y="6543675"/>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9FB3C8"/>
                </a:solidFill>
                <a:latin typeface="Aptos Display"/>
                <a:ea typeface="Aptos Display"/>
                <a:cs typeface="Aptos Display"/>
              </a:defRPr>
            </a:pPr>
            <a:r>
              <a:rPr sz="825" b="1">
                <a:solidFill>
                  <a:srgbClr val="9FB3C8"/>
                </a:solidFill>
                <a:latin typeface="Aptos Display"/>
                <a:ea typeface="Aptos Display"/>
                <a:cs typeface="Aptos Display"/>
              </a:rPr>
              <a:t>02</a:t>
            </a:r>
          </a:p>
        </p:txBody>
      </p:sp>
    </p:spTree>
    <p:extLst>
      <p:ext uri="{BB962C8B-B14F-4D97-AF65-F5344CB8AC3E}">
        <p14:creationId xmlns:p14="http://schemas.microsoft.com/office/powerpoint/2010/main" val="923735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0E8EC2B0-414B-4E78-BD47-12ACE7F1BB73}"/>
              </a:ext>
            </a:extLst>
          </p:cNvPr>
          <p:cNvSpPr>
            <a:spLocks noGrp="1"/>
          </p:cNvSpPr>
          <p:nvPr/>
        </p:nvSpPr>
        <p:spPr>
          <a:xfrm>
            <a:off x="0" y="0"/>
            <a:ext cx="12192000" cy="6858000"/>
          </a:xfrm>
          <a:prstGeom prst="rect">
            <a:avLst/>
          </a:prstGeom>
          <a:solidFill>
            <a:srgbClr val="07111F"/>
          </a:solidFill>
          <a:ln w="0">
            <a:solidFill>
              <a:srgbClr val="000000">
                <a:alpha val="0"/>
              </a:srgbClr>
            </a:solidFill>
            <a:prstDash val="solid"/>
          </a:ln>
        </p:spPr>
      </p:sp>
      <p:sp>
        <p:nvSpPr>
          <p:cNvPr id="2" name="Rectangle 1">
            <a:extLst>
              <a:ext uri="{FF2B5EF4-FFF2-40B4-BE49-F238E27FC236}">
                <a16:creationId xmlns:a16="http://schemas.microsoft.com/office/drawing/2014/main" id="{8FC7203E-D293-4ED0-BBC3-125C8FA6AD8E}"/>
              </a:ext>
            </a:extLst>
          </p:cNvPr>
          <p:cNvSpPr>
            <a:spLocks noGrp="1"/>
          </p:cNvSpPr>
          <p:nvPr/>
        </p:nvSpPr>
        <p:spPr>
          <a:xfrm>
            <a:off x="0" y="0"/>
            <a:ext cx="12192000" cy="1790700"/>
          </a:xfrm>
          <a:prstGeom prst="rect">
            <a:avLst/>
          </a:prstGeom>
          <a:solidFill>
            <a:srgbClr val="0A1730"/>
          </a:solidFill>
          <a:ln w="0">
            <a:solidFill>
              <a:srgbClr val="000000">
                <a:alpha val="0"/>
              </a:srgbClr>
            </a:solidFill>
            <a:prstDash val="solid"/>
          </a:ln>
        </p:spPr>
      </p:sp>
      <p:sp>
        <p:nvSpPr>
          <p:cNvPr id="3" name="Rectangle 2">
            <a:extLst>
              <a:ext uri="{FF2B5EF4-FFF2-40B4-BE49-F238E27FC236}">
                <a16:creationId xmlns:a16="http://schemas.microsoft.com/office/drawing/2014/main" id="{F166F593-A8BA-4B66-A35D-CF35599A8852}"/>
              </a:ext>
            </a:extLst>
          </p:cNvPr>
          <p:cNvSpPr>
            <a:spLocks noGrp="1"/>
          </p:cNvSpPr>
          <p:nvPr/>
        </p:nvSpPr>
        <p:spPr>
          <a:xfrm>
            <a:off x="9144000" y="0"/>
            <a:ext cx="3048000" cy="6858000"/>
          </a:xfrm>
          <a:prstGeom prst="rect">
            <a:avLst/>
          </a:prstGeom>
          <a:solidFill>
            <a:srgbClr val="081523"/>
          </a:solidFill>
          <a:ln w="0">
            <a:solidFill>
              <a:srgbClr val="000000">
                <a:alpha val="0"/>
              </a:srgbClr>
            </a:solidFill>
            <a:prstDash val="solid"/>
          </a:ln>
        </p:spPr>
      </p:sp>
      <p:sp>
        <p:nvSpPr>
          <p:cNvPr id="4" name="Rectangle 3">
            <a:extLst>
              <a:ext uri="{FF2B5EF4-FFF2-40B4-BE49-F238E27FC236}">
                <a16:creationId xmlns:a16="http://schemas.microsoft.com/office/drawing/2014/main" id="{F58CD34D-0729-4234-9376-C6C7D4CF380D}"/>
              </a:ext>
            </a:extLst>
          </p:cNvPr>
          <p:cNvSpPr>
            <a:spLocks noGrp="1"/>
          </p:cNvSpPr>
          <p:nvPr/>
        </p:nvSpPr>
        <p:spPr>
          <a:xfrm>
            <a:off x="609600" y="457200"/>
            <a:ext cx="95250" cy="95250"/>
          </a:xfrm>
          <a:prstGeom prst="rect">
            <a:avLst/>
          </a:prstGeom>
          <a:solidFill>
            <a:srgbClr val="30D5C8"/>
          </a:solidFill>
          <a:ln w="0">
            <a:solidFill>
              <a:srgbClr val="000000">
                <a:alpha val="0"/>
              </a:srgbClr>
            </a:solidFill>
            <a:prstDash val="solid"/>
          </a:ln>
        </p:spPr>
      </p:sp>
      <p:sp>
        <p:nvSpPr>
          <p:cNvPr id="5" name="Rectangle 4">
            <a:extLst>
              <a:ext uri="{FF2B5EF4-FFF2-40B4-BE49-F238E27FC236}">
                <a16:creationId xmlns:a16="http://schemas.microsoft.com/office/drawing/2014/main" id="{B54090F7-C809-43BE-8D4A-C09639906353}"/>
              </a:ext>
            </a:extLst>
          </p:cNvPr>
          <p:cNvSpPr>
            <a:spLocks noGrp="1"/>
          </p:cNvSpPr>
          <p:nvPr/>
        </p:nvSpPr>
        <p:spPr>
          <a:xfrm>
            <a:off x="800100" y="409575"/>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9FB3C8"/>
                </a:solidFill>
                <a:latin typeface="Aptos"/>
                <a:ea typeface="Aptos"/>
                <a:cs typeface="Aptos"/>
              </a:defRPr>
            </a:pPr>
            <a:r>
              <a:rPr sz="750" b="1">
                <a:solidFill>
                  <a:srgbClr val="9FB3C8"/>
                </a:solidFill>
                <a:latin typeface="Aptos"/>
                <a:ea typeface="Aptos"/>
                <a:cs typeface="Aptos"/>
              </a:rPr>
              <a:t>PRODUCT EXPERIENCE</a:t>
            </a:r>
          </a:p>
        </p:txBody>
      </p:sp>
      <p:sp>
        <p:nvSpPr>
          <p:cNvPr id="6" name="Rectangle 5">
            <a:extLst>
              <a:ext uri="{FF2B5EF4-FFF2-40B4-BE49-F238E27FC236}">
                <a16:creationId xmlns:a16="http://schemas.microsoft.com/office/drawing/2014/main" id="{04ABC58F-3CDB-4D26-9E1F-AE73C63B9E4E}"/>
              </a:ext>
            </a:extLst>
          </p:cNvPr>
          <p:cNvSpPr>
            <a:spLocks noGrp="1"/>
          </p:cNvSpPr>
          <p:nvPr/>
        </p:nvSpPr>
        <p:spPr>
          <a:xfrm>
            <a:off x="609600" y="742950"/>
            <a:ext cx="7239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FFFFF"/>
                </a:solidFill>
                <a:latin typeface="Aptos Display"/>
                <a:ea typeface="Aptos Display"/>
                <a:cs typeface="Aptos Display"/>
              </a:defRPr>
            </a:pPr>
            <a:r>
              <a:rPr sz="2475" b="1">
                <a:solidFill>
                  <a:srgbClr val="FFFFFF"/>
                </a:solidFill>
                <a:latin typeface="Aptos Display"/>
                <a:ea typeface="Aptos Display"/>
                <a:cs typeface="Aptos Display"/>
              </a:rPr>
              <a:t>The interface is simple on purpose: one camera view, four big controls, and audio-first feedback.</a:t>
            </a:r>
          </a:p>
        </p:txBody>
      </p:sp>
      <p:sp>
        <p:nvSpPr>
          <p:cNvPr id="7" name="Rectangle 6">
            <a:extLst>
              <a:ext uri="{FF2B5EF4-FFF2-40B4-BE49-F238E27FC236}">
                <a16:creationId xmlns:a16="http://schemas.microsoft.com/office/drawing/2014/main" id="{FA42BA2A-636F-4DE5-B5DE-757548386D13}"/>
              </a:ext>
            </a:extLst>
          </p:cNvPr>
          <p:cNvSpPr>
            <a:spLocks noGrp="1"/>
          </p:cNvSpPr>
          <p:nvPr/>
        </p:nvSpPr>
        <p:spPr>
          <a:xfrm>
            <a:off x="704850" y="1695450"/>
            <a:ext cx="3524250" cy="4171950"/>
          </a:xfrm>
          <a:prstGeom prst="rect">
            <a:avLst/>
          </a:prstGeom>
          <a:solidFill>
            <a:srgbClr val="05101C"/>
          </a:solidFill>
          <a:ln w="19050">
            <a:solidFill>
              <a:srgbClr val="35597E"/>
            </a:solidFill>
            <a:prstDash val="solid"/>
          </a:ln>
        </p:spPr>
      </p:sp>
      <p:sp>
        <p:nvSpPr>
          <p:cNvPr id="8" name="Rectangle 7">
            <a:extLst>
              <a:ext uri="{FF2B5EF4-FFF2-40B4-BE49-F238E27FC236}">
                <a16:creationId xmlns:a16="http://schemas.microsoft.com/office/drawing/2014/main" id="{E4AB7E69-430C-471F-9522-279DF704C7B6}"/>
              </a:ext>
            </a:extLst>
          </p:cNvPr>
          <p:cNvSpPr>
            <a:spLocks noGrp="1"/>
          </p:cNvSpPr>
          <p:nvPr/>
        </p:nvSpPr>
        <p:spPr>
          <a:xfrm>
            <a:off x="2200275" y="1790700"/>
            <a:ext cx="533400" cy="57150"/>
          </a:xfrm>
          <a:prstGeom prst="rect">
            <a:avLst/>
          </a:prstGeom>
          <a:solidFill>
            <a:srgbClr val="1E344D"/>
          </a:solidFill>
          <a:ln w="0">
            <a:solidFill>
              <a:srgbClr val="000000">
                <a:alpha val="0"/>
              </a:srgbClr>
            </a:solidFill>
            <a:prstDash val="solid"/>
          </a:ln>
        </p:spPr>
      </p:sp>
      <p:sp>
        <p:nvSpPr>
          <p:cNvPr id="9" name="Rectangle 8">
            <a:extLst>
              <a:ext uri="{FF2B5EF4-FFF2-40B4-BE49-F238E27FC236}">
                <a16:creationId xmlns:a16="http://schemas.microsoft.com/office/drawing/2014/main" id="{E905B76F-F69C-43FD-93AA-2D6AC9F42A8B}"/>
              </a:ext>
            </a:extLst>
          </p:cNvPr>
          <p:cNvSpPr>
            <a:spLocks noGrp="1"/>
          </p:cNvSpPr>
          <p:nvPr/>
        </p:nvSpPr>
        <p:spPr>
          <a:xfrm>
            <a:off x="838200" y="1962150"/>
            <a:ext cx="3257550" cy="3771900"/>
          </a:xfrm>
          <a:prstGeom prst="rect">
            <a:avLst/>
          </a:prstGeom>
          <a:solidFill>
            <a:srgbClr val="0E1E31"/>
          </a:solidFill>
          <a:ln w="0">
            <a:solidFill>
              <a:srgbClr val="000000">
                <a:alpha val="0"/>
              </a:srgbClr>
            </a:solidFill>
            <a:prstDash val="solid"/>
          </a:ln>
        </p:spPr>
      </p:sp>
      <p:sp>
        <p:nvSpPr>
          <p:cNvPr id="10" name="Rectangle 9">
            <a:extLst>
              <a:ext uri="{FF2B5EF4-FFF2-40B4-BE49-F238E27FC236}">
                <a16:creationId xmlns:a16="http://schemas.microsoft.com/office/drawing/2014/main" id="{6F7B8260-BCAF-48F8-9935-B8B86F15AB17}"/>
              </a:ext>
            </a:extLst>
          </p:cNvPr>
          <p:cNvSpPr>
            <a:spLocks noGrp="1"/>
          </p:cNvSpPr>
          <p:nvPr/>
        </p:nvSpPr>
        <p:spPr>
          <a:xfrm>
            <a:off x="1866900" y="1943100"/>
            <a:ext cx="1238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FFFFFF"/>
                </a:solidFill>
                <a:latin typeface="Aptos Display"/>
                <a:ea typeface="Aptos Display"/>
                <a:cs typeface="Aptos Display"/>
              </a:defRPr>
            </a:pPr>
            <a:r>
              <a:rPr sz="1575" b="1">
                <a:solidFill>
                  <a:srgbClr val="FFFFFF"/>
                </a:solidFill>
                <a:latin typeface="Aptos Display"/>
                <a:ea typeface="Aptos Display"/>
                <a:cs typeface="Aptos Display"/>
              </a:rPr>
              <a:t>SightSync</a:t>
            </a:r>
          </a:p>
        </p:txBody>
      </p:sp>
      <p:sp>
        <p:nvSpPr>
          <p:cNvPr id="11" name="Rectangle 10">
            <a:extLst>
              <a:ext uri="{FF2B5EF4-FFF2-40B4-BE49-F238E27FC236}">
                <a16:creationId xmlns:a16="http://schemas.microsoft.com/office/drawing/2014/main" id="{BD30BB48-531C-4C0B-BBA2-9ED6E666A9DB}"/>
              </a:ext>
            </a:extLst>
          </p:cNvPr>
          <p:cNvSpPr>
            <a:spLocks noGrp="1"/>
          </p:cNvSpPr>
          <p:nvPr/>
        </p:nvSpPr>
        <p:spPr>
          <a:xfrm>
            <a:off x="1333500" y="2190750"/>
            <a:ext cx="22669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3" b="0">
                <a:solidFill>
                  <a:srgbClr val="9FB3C8"/>
                </a:solidFill>
                <a:latin typeface="Aptos"/>
                <a:ea typeface="Aptos"/>
                <a:cs typeface="Aptos"/>
              </a:defRPr>
            </a:pPr>
            <a:r>
              <a:rPr sz="713" b="0">
                <a:solidFill>
                  <a:srgbClr val="9FB3C8"/>
                </a:solidFill>
                <a:latin typeface="Aptos"/>
                <a:ea typeface="Aptos"/>
                <a:cs typeface="Aptos"/>
              </a:rPr>
              <a:t>Live Scene Description Assistant</a:t>
            </a:r>
          </a:p>
        </p:txBody>
      </p:sp>
      <p:sp>
        <p:nvSpPr>
          <p:cNvPr id="12" name="Rectangle 11">
            <a:extLst>
              <a:ext uri="{FF2B5EF4-FFF2-40B4-BE49-F238E27FC236}">
                <a16:creationId xmlns:a16="http://schemas.microsoft.com/office/drawing/2014/main" id="{8C1EC308-34FA-4C04-AD9D-DF2E7BE988D3}"/>
              </a:ext>
            </a:extLst>
          </p:cNvPr>
          <p:cNvSpPr>
            <a:spLocks noGrp="1"/>
          </p:cNvSpPr>
          <p:nvPr/>
        </p:nvSpPr>
        <p:spPr>
          <a:xfrm>
            <a:off x="952500" y="2514600"/>
            <a:ext cx="3028950" cy="1714500"/>
          </a:xfrm>
          <a:prstGeom prst="rect">
            <a:avLst/>
          </a:prstGeom>
          <a:solidFill>
            <a:srgbClr val="13243B"/>
          </a:solidFill>
          <a:ln w="9525">
            <a:solidFill>
              <a:srgbClr val="2E4A69"/>
            </a:solidFill>
            <a:prstDash val="solid"/>
          </a:ln>
        </p:spPr>
      </p:sp>
      <p:sp>
        <p:nvSpPr>
          <p:cNvPr id="13" name="Rectangle 12">
            <a:extLst>
              <a:ext uri="{FF2B5EF4-FFF2-40B4-BE49-F238E27FC236}">
                <a16:creationId xmlns:a16="http://schemas.microsoft.com/office/drawing/2014/main" id="{E75E7EB3-9BB3-47FA-91C3-ACD45DC9BA7B}"/>
              </a:ext>
            </a:extLst>
          </p:cNvPr>
          <p:cNvSpPr>
            <a:spLocks noGrp="1"/>
          </p:cNvSpPr>
          <p:nvPr/>
        </p:nvSpPr>
        <p:spPr>
          <a:xfrm>
            <a:off x="1162050" y="2705100"/>
            <a:ext cx="4381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FF6B6B"/>
                </a:solidFill>
                <a:latin typeface="Aptos"/>
                <a:ea typeface="Aptos"/>
                <a:cs typeface="Aptos"/>
              </a:defRPr>
            </a:pPr>
            <a:r>
              <a:rPr sz="750" b="1">
                <a:solidFill>
                  <a:srgbClr val="FF6B6B"/>
                </a:solidFill>
                <a:latin typeface="Aptos"/>
                <a:ea typeface="Aptos"/>
                <a:cs typeface="Aptos"/>
              </a:rPr>
              <a:t>LIVE</a:t>
            </a:r>
          </a:p>
        </p:txBody>
      </p:sp>
      <p:sp>
        <p:nvSpPr>
          <p:cNvPr id="14" name="Rectangle 13">
            <a:extLst>
              <a:ext uri="{FF2B5EF4-FFF2-40B4-BE49-F238E27FC236}">
                <a16:creationId xmlns:a16="http://schemas.microsoft.com/office/drawing/2014/main" id="{424F3004-FDAA-4D57-AD30-4F0000B2F8FE}"/>
              </a:ext>
            </a:extLst>
          </p:cNvPr>
          <p:cNvSpPr>
            <a:spLocks noGrp="1"/>
          </p:cNvSpPr>
          <p:nvPr/>
        </p:nvSpPr>
        <p:spPr>
          <a:xfrm>
            <a:off x="3219450" y="2705100"/>
            <a:ext cx="514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750" b="1">
                <a:solidFill>
                  <a:srgbClr val="32C48D"/>
                </a:solidFill>
                <a:latin typeface="Aptos"/>
                <a:ea typeface="Aptos"/>
                <a:cs typeface="Aptos"/>
              </a:defRPr>
            </a:pPr>
            <a:r>
              <a:rPr sz="750" b="1">
                <a:solidFill>
                  <a:srgbClr val="32C48D"/>
                </a:solidFill>
                <a:latin typeface="Aptos"/>
                <a:ea typeface="Aptos"/>
                <a:cs typeface="Aptos"/>
              </a:rPr>
              <a:t>Voice On</a:t>
            </a:r>
          </a:p>
        </p:txBody>
      </p:sp>
      <p:sp>
        <p:nvSpPr>
          <p:cNvPr id="15" name="Rectangle 14">
            <a:extLst>
              <a:ext uri="{FF2B5EF4-FFF2-40B4-BE49-F238E27FC236}">
                <a16:creationId xmlns:a16="http://schemas.microsoft.com/office/drawing/2014/main" id="{80AF01DC-4FA5-4383-A7C1-D11751E16E03}"/>
              </a:ext>
            </a:extLst>
          </p:cNvPr>
          <p:cNvSpPr>
            <a:spLocks noGrp="1"/>
          </p:cNvSpPr>
          <p:nvPr/>
        </p:nvSpPr>
        <p:spPr>
          <a:xfrm>
            <a:off x="1200150" y="3638550"/>
            <a:ext cx="25146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B8C8D8"/>
                </a:solidFill>
                <a:latin typeface="Aptos"/>
                <a:ea typeface="Aptos"/>
                <a:cs typeface="Aptos"/>
              </a:defRPr>
            </a:pPr>
            <a:r>
              <a:rPr sz="788" b="0">
                <a:solidFill>
                  <a:srgbClr val="B8C8D8"/>
                </a:solidFill>
                <a:latin typeface="Aptos"/>
                <a:ea typeface="Aptos"/>
                <a:cs typeface="Aptos"/>
              </a:rPr>
              <a:t>Camera feed with change detection prevents unnecessary API calls when the scene stays stable.</a:t>
            </a:r>
          </a:p>
        </p:txBody>
      </p:sp>
      <p:sp>
        <p:nvSpPr>
          <p:cNvPr id="16" name="Rectangle 15">
            <a:extLst>
              <a:ext uri="{FF2B5EF4-FFF2-40B4-BE49-F238E27FC236}">
                <a16:creationId xmlns:a16="http://schemas.microsoft.com/office/drawing/2014/main" id="{B4FCA1BD-9154-4616-B4BB-AFD21C541F2E}"/>
              </a:ext>
            </a:extLst>
          </p:cNvPr>
          <p:cNvSpPr>
            <a:spLocks noGrp="1"/>
          </p:cNvSpPr>
          <p:nvPr/>
        </p:nvSpPr>
        <p:spPr>
          <a:xfrm>
            <a:off x="952500" y="4400550"/>
            <a:ext cx="1409700" cy="533400"/>
          </a:xfrm>
          <a:prstGeom prst="rect">
            <a:avLst/>
          </a:prstGeom>
          <a:solidFill>
            <a:srgbClr val="19436A"/>
          </a:solidFill>
          <a:ln w="9525">
            <a:solidFill>
              <a:srgbClr val="19436A"/>
            </a:solidFill>
            <a:prstDash val="solid"/>
          </a:ln>
        </p:spPr>
      </p:sp>
      <p:sp>
        <p:nvSpPr>
          <p:cNvPr id="17" name="Rectangle 16">
            <a:extLst>
              <a:ext uri="{FF2B5EF4-FFF2-40B4-BE49-F238E27FC236}">
                <a16:creationId xmlns:a16="http://schemas.microsoft.com/office/drawing/2014/main" id="{F4404339-98D8-4E84-8BCA-5FDA42B6EAE7}"/>
              </a:ext>
            </a:extLst>
          </p:cNvPr>
          <p:cNvSpPr>
            <a:spLocks noGrp="1"/>
          </p:cNvSpPr>
          <p:nvPr/>
        </p:nvSpPr>
        <p:spPr>
          <a:xfrm>
            <a:off x="2571750" y="4400550"/>
            <a:ext cx="1409700" cy="533400"/>
          </a:xfrm>
          <a:prstGeom prst="rect">
            <a:avLst/>
          </a:prstGeom>
          <a:solidFill>
            <a:srgbClr val="14283F"/>
          </a:solidFill>
          <a:ln w="9525">
            <a:solidFill>
              <a:srgbClr val="2A4662"/>
            </a:solidFill>
            <a:prstDash val="solid"/>
          </a:ln>
        </p:spPr>
      </p:sp>
      <p:sp>
        <p:nvSpPr>
          <p:cNvPr id="18" name="Rectangle 17">
            <a:extLst>
              <a:ext uri="{FF2B5EF4-FFF2-40B4-BE49-F238E27FC236}">
                <a16:creationId xmlns:a16="http://schemas.microsoft.com/office/drawing/2014/main" id="{B9CC81BA-9437-4620-86AF-A90B2E9D3098}"/>
              </a:ext>
            </a:extLst>
          </p:cNvPr>
          <p:cNvSpPr>
            <a:spLocks noGrp="1"/>
          </p:cNvSpPr>
          <p:nvPr/>
        </p:nvSpPr>
        <p:spPr>
          <a:xfrm>
            <a:off x="952500" y="5086350"/>
            <a:ext cx="1409700" cy="533400"/>
          </a:xfrm>
          <a:prstGeom prst="rect">
            <a:avLst/>
          </a:prstGeom>
          <a:solidFill>
            <a:srgbClr val="14283F"/>
          </a:solidFill>
          <a:ln w="9525">
            <a:solidFill>
              <a:srgbClr val="2A4662"/>
            </a:solidFill>
            <a:prstDash val="solid"/>
          </a:ln>
        </p:spPr>
      </p:sp>
      <p:sp>
        <p:nvSpPr>
          <p:cNvPr id="19" name="Rectangle 18">
            <a:extLst>
              <a:ext uri="{FF2B5EF4-FFF2-40B4-BE49-F238E27FC236}">
                <a16:creationId xmlns:a16="http://schemas.microsoft.com/office/drawing/2014/main" id="{FFAE27B4-A497-4219-B050-83C46583D334}"/>
              </a:ext>
            </a:extLst>
          </p:cNvPr>
          <p:cNvSpPr>
            <a:spLocks noGrp="1"/>
          </p:cNvSpPr>
          <p:nvPr/>
        </p:nvSpPr>
        <p:spPr>
          <a:xfrm>
            <a:off x="2571750" y="5086350"/>
            <a:ext cx="1409700" cy="533400"/>
          </a:xfrm>
          <a:prstGeom prst="rect">
            <a:avLst/>
          </a:prstGeom>
          <a:solidFill>
            <a:srgbClr val="14283F"/>
          </a:solidFill>
          <a:ln w="9525">
            <a:solidFill>
              <a:srgbClr val="2A4662"/>
            </a:solidFill>
            <a:prstDash val="solid"/>
          </a:ln>
        </p:spPr>
      </p:sp>
      <p:sp>
        <p:nvSpPr>
          <p:cNvPr id="20" name="Rectangle 19">
            <a:extLst>
              <a:ext uri="{FF2B5EF4-FFF2-40B4-BE49-F238E27FC236}">
                <a16:creationId xmlns:a16="http://schemas.microsoft.com/office/drawing/2014/main" id="{281C6835-EC1D-4143-AA37-47631411988F}"/>
              </a:ext>
            </a:extLst>
          </p:cNvPr>
          <p:cNvSpPr>
            <a:spLocks noGrp="1"/>
          </p:cNvSpPr>
          <p:nvPr/>
        </p:nvSpPr>
        <p:spPr>
          <a:xfrm>
            <a:off x="952500" y="4591050"/>
            <a:ext cx="1409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38" b="1">
                <a:solidFill>
                  <a:srgbClr val="FFFFFF"/>
                </a:solidFill>
                <a:latin typeface="Aptos"/>
                <a:ea typeface="Aptos"/>
                <a:cs typeface="Aptos"/>
              </a:defRPr>
            </a:pPr>
            <a:r>
              <a:rPr sz="938" b="1">
                <a:solidFill>
                  <a:srgbClr val="FFFFFF"/>
                </a:solidFill>
                <a:latin typeface="Aptos"/>
                <a:ea typeface="Aptos"/>
                <a:cs typeface="Aptos"/>
              </a:rPr>
              <a:t>Start Live</a:t>
            </a:r>
          </a:p>
        </p:txBody>
      </p:sp>
      <p:sp>
        <p:nvSpPr>
          <p:cNvPr id="21" name="Rectangle 20">
            <a:extLst>
              <a:ext uri="{FF2B5EF4-FFF2-40B4-BE49-F238E27FC236}">
                <a16:creationId xmlns:a16="http://schemas.microsoft.com/office/drawing/2014/main" id="{13BF0F56-1EDB-4BF7-97EF-73EBB4E78F40}"/>
              </a:ext>
            </a:extLst>
          </p:cNvPr>
          <p:cNvSpPr>
            <a:spLocks noGrp="1"/>
          </p:cNvSpPr>
          <p:nvPr/>
        </p:nvSpPr>
        <p:spPr>
          <a:xfrm>
            <a:off x="2571750" y="4591050"/>
            <a:ext cx="1409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38" b="1">
                <a:solidFill>
                  <a:srgbClr val="F3F7FB"/>
                </a:solidFill>
                <a:latin typeface="Aptos"/>
                <a:ea typeface="Aptos"/>
                <a:cs typeface="Aptos"/>
              </a:defRPr>
            </a:pPr>
            <a:r>
              <a:rPr sz="938" b="1">
                <a:solidFill>
                  <a:srgbClr val="F3F7FB"/>
                </a:solidFill>
                <a:latin typeface="Aptos"/>
                <a:ea typeface="Aptos"/>
                <a:cs typeface="Aptos"/>
              </a:rPr>
              <a:t>Capture</a:t>
            </a:r>
          </a:p>
        </p:txBody>
      </p:sp>
      <p:sp>
        <p:nvSpPr>
          <p:cNvPr id="22" name="Rectangle 21">
            <a:extLst>
              <a:ext uri="{FF2B5EF4-FFF2-40B4-BE49-F238E27FC236}">
                <a16:creationId xmlns:a16="http://schemas.microsoft.com/office/drawing/2014/main" id="{0D0E5B3C-5DE0-409A-87ED-DAEE14D526EB}"/>
              </a:ext>
            </a:extLst>
          </p:cNvPr>
          <p:cNvSpPr>
            <a:spLocks noGrp="1"/>
          </p:cNvSpPr>
          <p:nvPr/>
        </p:nvSpPr>
        <p:spPr>
          <a:xfrm>
            <a:off x="952500" y="5276850"/>
            <a:ext cx="1409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38" b="1">
                <a:solidFill>
                  <a:srgbClr val="F3F7FB"/>
                </a:solidFill>
                <a:latin typeface="Aptos"/>
                <a:ea typeface="Aptos"/>
                <a:cs typeface="Aptos"/>
              </a:defRPr>
            </a:pPr>
            <a:r>
              <a:rPr sz="938" b="1">
                <a:solidFill>
                  <a:srgbClr val="F3F7FB"/>
                </a:solidFill>
                <a:latin typeface="Aptos"/>
                <a:ea typeface="Aptos"/>
                <a:cs typeface="Aptos"/>
              </a:rPr>
              <a:t>Audio On</a:t>
            </a:r>
          </a:p>
        </p:txBody>
      </p:sp>
      <p:sp>
        <p:nvSpPr>
          <p:cNvPr id="23" name="Rectangle 22">
            <a:extLst>
              <a:ext uri="{FF2B5EF4-FFF2-40B4-BE49-F238E27FC236}">
                <a16:creationId xmlns:a16="http://schemas.microsoft.com/office/drawing/2014/main" id="{3BB153DC-C913-4945-9BE1-89B1E282DBC7}"/>
              </a:ext>
            </a:extLst>
          </p:cNvPr>
          <p:cNvSpPr>
            <a:spLocks noGrp="1"/>
          </p:cNvSpPr>
          <p:nvPr/>
        </p:nvSpPr>
        <p:spPr>
          <a:xfrm>
            <a:off x="2571750" y="5276850"/>
            <a:ext cx="14097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38" b="1">
                <a:solidFill>
                  <a:srgbClr val="F3F7FB"/>
                </a:solidFill>
                <a:latin typeface="Aptos"/>
                <a:ea typeface="Aptos"/>
                <a:cs typeface="Aptos"/>
              </a:defRPr>
            </a:pPr>
            <a:r>
              <a:rPr sz="938" b="1">
                <a:solidFill>
                  <a:srgbClr val="F3F7FB"/>
                </a:solidFill>
                <a:latin typeface="Aptos"/>
                <a:ea typeface="Aptos"/>
                <a:cs typeface="Aptos"/>
              </a:rPr>
              <a:t>Voice Off</a:t>
            </a:r>
          </a:p>
        </p:txBody>
      </p:sp>
      <p:sp>
        <p:nvSpPr>
          <p:cNvPr id="24" name="Rectangle 23">
            <a:extLst>
              <a:ext uri="{FF2B5EF4-FFF2-40B4-BE49-F238E27FC236}">
                <a16:creationId xmlns:a16="http://schemas.microsoft.com/office/drawing/2014/main" id="{033BA14B-381B-4E1B-B852-58899E0F29F0}"/>
              </a:ext>
            </a:extLst>
          </p:cNvPr>
          <p:cNvSpPr>
            <a:spLocks noGrp="1"/>
          </p:cNvSpPr>
          <p:nvPr/>
        </p:nvSpPr>
        <p:spPr>
          <a:xfrm>
            <a:off x="4800600" y="1847850"/>
            <a:ext cx="6248400" cy="1085850"/>
          </a:xfrm>
          <a:prstGeom prst="rect">
            <a:avLst/>
          </a:prstGeom>
          <a:solidFill>
            <a:srgbClr val="0D1D31"/>
          </a:solidFill>
          <a:ln w="9525">
            <a:solidFill>
              <a:srgbClr val="294562"/>
            </a:solidFill>
            <a:prstDash val="solid"/>
          </a:ln>
        </p:spPr>
      </p:sp>
      <p:sp>
        <p:nvSpPr>
          <p:cNvPr id="25" name="Rectangle 24">
            <a:extLst>
              <a:ext uri="{FF2B5EF4-FFF2-40B4-BE49-F238E27FC236}">
                <a16:creationId xmlns:a16="http://schemas.microsoft.com/office/drawing/2014/main" id="{B899E690-2D76-43EE-9FA7-1BA0A4DD0E2B}"/>
              </a:ext>
            </a:extLst>
          </p:cNvPr>
          <p:cNvSpPr>
            <a:spLocks noGrp="1"/>
          </p:cNvSpPr>
          <p:nvPr/>
        </p:nvSpPr>
        <p:spPr>
          <a:xfrm>
            <a:off x="5067300" y="2076450"/>
            <a:ext cx="1524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Aptos"/>
                <a:ea typeface="Aptos"/>
                <a:cs typeface="Aptos"/>
              </a:defRPr>
            </a:pPr>
            <a:r>
              <a:rPr sz="1125" b="1">
                <a:solidFill>
                  <a:srgbClr val="FFFFFF"/>
                </a:solidFill>
                <a:latin typeface="Aptos"/>
                <a:ea typeface="Aptos"/>
                <a:cs typeface="Aptos"/>
              </a:rPr>
              <a:t>Core workflow</a:t>
            </a:r>
          </a:p>
        </p:txBody>
      </p:sp>
      <p:sp>
        <p:nvSpPr>
          <p:cNvPr id="26" name="Rectangle 25">
            <a:extLst>
              <a:ext uri="{FF2B5EF4-FFF2-40B4-BE49-F238E27FC236}">
                <a16:creationId xmlns:a16="http://schemas.microsoft.com/office/drawing/2014/main" id="{0B87E332-5C69-4EEC-B24F-F822518D3309}"/>
              </a:ext>
            </a:extLst>
          </p:cNvPr>
          <p:cNvSpPr>
            <a:spLocks noGrp="1"/>
          </p:cNvSpPr>
          <p:nvPr/>
        </p:nvSpPr>
        <p:spPr>
          <a:xfrm>
            <a:off x="5067300" y="2343150"/>
            <a:ext cx="56578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0">
                <a:solidFill>
                  <a:srgbClr val="9FB3C8"/>
                </a:solidFill>
                <a:latin typeface="Aptos"/>
                <a:ea typeface="Aptos"/>
                <a:cs typeface="Aptos"/>
              </a:defRPr>
            </a:pPr>
            <a:r>
              <a:rPr sz="1013" b="0">
                <a:solidFill>
                  <a:srgbClr val="9FB3C8"/>
                </a:solidFill>
                <a:latin typeface="Aptos"/>
                <a:ea typeface="Aptos"/>
                <a:cs typeface="Aptos"/>
              </a:rPr>
              <a:t>The frontend grabs a frame immediately, keeps a rolling buffer for follow-up questions, then speaks only when the backend marks the scene as critical.</a:t>
            </a:r>
          </a:p>
        </p:txBody>
      </p:sp>
      <p:sp>
        <p:nvSpPr>
          <p:cNvPr id="27" name="Rectangle 26">
            <a:extLst>
              <a:ext uri="{FF2B5EF4-FFF2-40B4-BE49-F238E27FC236}">
                <a16:creationId xmlns:a16="http://schemas.microsoft.com/office/drawing/2014/main" id="{1A8D1780-6D9D-4800-88E0-55F0045AB3FF}"/>
              </a:ext>
            </a:extLst>
          </p:cNvPr>
          <p:cNvSpPr>
            <a:spLocks noGrp="1"/>
          </p:cNvSpPr>
          <p:nvPr/>
        </p:nvSpPr>
        <p:spPr>
          <a:xfrm>
            <a:off x="4800600" y="3181350"/>
            <a:ext cx="1962150" cy="1066800"/>
          </a:xfrm>
          <a:prstGeom prst="rect">
            <a:avLst/>
          </a:prstGeom>
          <a:solidFill>
            <a:srgbClr val="12263D"/>
          </a:solidFill>
          <a:ln w="9525">
            <a:solidFill>
              <a:srgbClr val="294562"/>
            </a:solidFill>
            <a:prstDash val="solid"/>
          </a:ln>
        </p:spPr>
      </p:sp>
      <p:sp>
        <p:nvSpPr>
          <p:cNvPr id="28" name="Rectangle 27">
            <a:extLst>
              <a:ext uri="{FF2B5EF4-FFF2-40B4-BE49-F238E27FC236}">
                <a16:creationId xmlns:a16="http://schemas.microsoft.com/office/drawing/2014/main" id="{267A444E-80C9-486C-B922-D7F5F9D004D3}"/>
              </a:ext>
            </a:extLst>
          </p:cNvPr>
          <p:cNvSpPr>
            <a:spLocks noGrp="1"/>
          </p:cNvSpPr>
          <p:nvPr/>
        </p:nvSpPr>
        <p:spPr>
          <a:xfrm>
            <a:off x="5010150" y="3390900"/>
            <a:ext cx="1143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1">
                <a:solidFill>
                  <a:srgbClr val="4DA3FF"/>
                </a:solidFill>
                <a:latin typeface="Aptos"/>
                <a:ea typeface="Aptos"/>
                <a:cs typeface="Aptos"/>
              </a:defRPr>
            </a:pPr>
            <a:r>
              <a:rPr sz="1013" b="1">
                <a:solidFill>
                  <a:srgbClr val="4DA3FF"/>
                </a:solidFill>
                <a:latin typeface="Aptos"/>
                <a:ea typeface="Aptos"/>
                <a:cs typeface="Aptos"/>
              </a:rPr>
              <a:t>Live mode</a:t>
            </a:r>
          </a:p>
        </p:txBody>
      </p:sp>
      <p:sp>
        <p:nvSpPr>
          <p:cNvPr id="29" name="Rectangle 28">
            <a:extLst>
              <a:ext uri="{FF2B5EF4-FFF2-40B4-BE49-F238E27FC236}">
                <a16:creationId xmlns:a16="http://schemas.microsoft.com/office/drawing/2014/main" id="{D0FD9FC2-62B6-4D0D-BF95-F22EEF9DC4D9}"/>
              </a:ext>
            </a:extLst>
          </p:cNvPr>
          <p:cNvSpPr>
            <a:spLocks noGrp="1"/>
          </p:cNvSpPr>
          <p:nvPr/>
        </p:nvSpPr>
        <p:spPr>
          <a:xfrm>
            <a:off x="5010150" y="3638550"/>
            <a:ext cx="15049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9FB3C8"/>
                </a:solidFill>
                <a:latin typeface="Aptos"/>
                <a:ea typeface="Aptos"/>
                <a:cs typeface="Aptos"/>
              </a:defRPr>
            </a:pPr>
            <a:r>
              <a:rPr sz="788" b="0">
                <a:solidFill>
                  <a:srgbClr val="9FB3C8"/>
                </a:solidFill>
                <a:latin typeface="Aptos"/>
                <a:ea typeface="Aptos"/>
                <a:cs typeface="Aptos"/>
              </a:rPr>
              <a:t>Runs every second and uses pixel-level change detection before sending another frame.</a:t>
            </a:r>
          </a:p>
        </p:txBody>
      </p:sp>
      <p:sp>
        <p:nvSpPr>
          <p:cNvPr id="30" name="Rectangle 29">
            <a:extLst>
              <a:ext uri="{FF2B5EF4-FFF2-40B4-BE49-F238E27FC236}">
                <a16:creationId xmlns:a16="http://schemas.microsoft.com/office/drawing/2014/main" id="{56B6C9F1-FC8A-48A8-8AB3-F5F586FE8985}"/>
              </a:ext>
            </a:extLst>
          </p:cNvPr>
          <p:cNvSpPr>
            <a:spLocks noGrp="1"/>
          </p:cNvSpPr>
          <p:nvPr/>
        </p:nvSpPr>
        <p:spPr>
          <a:xfrm>
            <a:off x="6934200" y="3181350"/>
            <a:ext cx="1962150" cy="1066800"/>
          </a:xfrm>
          <a:prstGeom prst="rect">
            <a:avLst/>
          </a:prstGeom>
          <a:solidFill>
            <a:srgbClr val="12263D"/>
          </a:solidFill>
          <a:ln w="9525">
            <a:solidFill>
              <a:srgbClr val="294562"/>
            </a:solidFill>
            <a:prstDash val="solid"/>
          </a:ln>
        </p:spPr>
      </p:sp>
      <p:sp>
        <p:nvSpPr>
          <p:cNvPr id="31" name="Rectangle 30">
            <a:extLst>
              <a:ext uri="{FF2B5EF4-FFF2-40B4-BE49-F238E27FC236}">
                <a16:creationId xmlns:a16="http://schemas.microsoft.com/office/drawing/2014/main" id="{19CA924A-C87C-4F5A-9E05-0471A2933BD7}"/>
              </a:ext>
            </a:extLst>
          </p:cNvPr>
          <p:cNvSpPr>
            <a:spLocks noGrp="1"/>
          </p:cNvSpPr>
          <p:nvPr/>
        </p:nvSpPr>
        <p:spPr>
          <a:xfrm>
            <a:off x="7143750" y="3390900"/>
            <a:ext cx="1238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1">
                <a:solidFill>
                  <a:srgbClr val="30D5C8"/>
                </a:solidFill>
                <a:latin typeface="Aptos"/>
                <a:ea typeface="Aptos"/>
                <a:cs typeface="Aptos"/>
              </a:defRPr>
            </a:pPr>
            <a:r>
              <a:rPr sz="1013" b="1">
                <a:solidFill>
                  <a:srgbClr val="30D5C8"/>
                </a:solidFill>
                <a:latin typeface="Aptos"/>
                <a:ea typeface="Aptos"/>
                <a:cs typeface="Aptos"/>
              </a:rPr>
              <a:t>Voice commands</a:t>
            </a:r>
          </a:p>
        </p:txBody>
      </p:sp>
      <p:sp>
        <p:nvSpPr>
          <p:cNvPr id="32" name="Rectangle 31">
            <a:extLst>
              <a:ext uri="{FF2B5EF4-FFF2-40B4-BE49-F238E27FC236}">
                <a16:creationId xmlns:a16="http://schemas.microsoft.com/office/drawing/2014/main" id="{FA1C3982-1F1D-44CB-B7D7-FEBFA8203EB9}"/>
              </a:ext>
            </a:extLst>
          </p:cNvPr>
          <p:cNvSpPr>
            <a:spLocks noGrp="1"/>
          </p:cNvSpPr>
          <p:nvPr/>
        </p:nvSpPr>
        <p:spPr>
          <a:xfrm>
            <a:off x="7143750" y="3638550"/>
            <a:ext cx="15049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9FB3C8"/>
                </a:solidFill>
                <a:latin typeface="Aptos"/>
                <a:ea typeface="Aptos"/>
                <a:cs typeface="Aptos"/>
              </a:defRPr>
            </a:pPr>
            <a:r>
              <a:rPr sz="788" b="0">
                <a:solidFill>
                  <a:srgbClr val="9FB3C8"/>
                </a:solidFill>
                <a:latin typeface="Aptos"/>
                <a:ea typeface="Aptos"/>
                <a:cs typeface="Aptos"/>
              </a:rPr>
              <a:t>Understands commands like analyze, start live, stop live, replay audio, and switch camera.</a:t>
            </a:r>
          </a:p>
        </p:txBody>
      </p:sp>
      <p:sp>
        <p:nvSpPr>
          <p:cNvPr id="33" name="Rectangle 32">
            <a:extLst>
              <a:ext uri="{FF2B5EF4-FFF2-40B4-BE49-F238E27FC236}">
                <a16:creationId xmlns:a16="http://schemas.microsoft.com/office/drawing/2014/main" id="{B7DB1F89-F224-4210-B7F1-68DA5F979DBA}"/>
              </a:ext>
            </a:extLst>
          </p:cNvPr>
          <p:cNvSpPr>
            <a:spLocks noGrp="1"/>
          </p:cNvSpPr>
          <p:nvPr/>
        </p:nvSpPr>
        <p:spPr>
          <a:xfrm>
            <a:off x="9067800" y="3181350"/>
            <a:ext cx="1981200" cy="1066800"/>
          </a:xfrm>
          <a:prstGeom prst="rect">
            <a:avLst/>
          </a:prstGeom>
          <a:solidFill>
            <a:srgbClr val="12263D"/>
          </a:solidFill>
          <a:ln w="9525">
            <a:solidFill>
              <a:srgbClr val="294562"/>
            </a:solidFill>
            <a:prstDash val="solid"/>
          </a:ln>
        </p:spPr>
      </p:sp>
      <p:sp>
        <p:nvSpPr>
          <p:cNvPr id="34" name="Rectangle 33">
            <a:extLst>
              <a:ext uri="{FF2B5EF4-FFF2-40B4-BE49-F238E27FC236}">
                <a16:creationId xmlns:a16="http://schemas.microsoft.com/office/drawing/2014/main" id="{CD492D0E-4DCA-47AD-A91F-8EE14D6BA05A}"/>
              </a:ext>
            </a:extLst>
          </p:cNvPr>
          <p:cNvSpPr>
            <a:spLocks noGrp="1"/>
          </p:cNvSpPr>
          <p:nvPr/>
        </p:nvSpPr>
        <p:spPr>
          <a:xfrm>
            <a:off x="9277350" y="3390900"/>
            <a:ext cx="1219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1">
                <a:solidFill>
                  <a:srgbClr val="7C6CFF"/>
                </a:solidFill>
                <a:latin typeface="Aptos"/>
                <a:ea typeface="Aptos"/>
                <a:cs typeface="Aptos"/>
              </a:defRPr>
            </a:pPr>
            <a:r>
              <a:rPr sz="1013" b="1">
                <a:solidFill>
                  <a:srgbClr val="7C6CFF"/>
                </a:solidFill>
                <a:latin typeface="Aptos"/>
                <a:ea typeface="Aptos"/>
                <a:cs typeface="Aptos"/>
              </a:rPr>
              <a:t>Chat follow-up</a:t>
            </a:r>
          </a:p>
        </p:txBody>
      </p:sp>
      <p:sp>
        <p:nvSpPr>
          <p:cNvPr id="35" name="Rectangle 34">
            <a:extLst>
              <a:ext uri="{FF2B5EF4-FFF2-40B4-BE49-F238E27FC236}">
                <a16:creationId xmlns:a16="http://schemas.microsoft.com/office/drawing/2014/main" id="{F698BCA1-3E24-4F36-8A67-B63229CCBD94}"/>
              </a:ext>
            </a:extLst>
          </p:cNvPr>
          <p:cNvSpPr>
            <a:spLocks noGrp="1"/>
          </p:cNvSpPr>
          <p:nvPr/>
        </p:nvSpPr>
        <p:spPr>
          <a:xfrm>
            <a:off x="9277350" y="3638550"/>
            <a:ext cx="15430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9FB3C8"/>
                </a:solidFill>
                <a:latin typeface="Aptos"/>
                <a:ea typeface="Aptos"/>
                <a:cs typeface="Aptos"/>
              </a:defRPr>
            </a:pPr>
            <a:r>
              <a:rPr sz="788" b="0">
                <a:solidFill>
                  <a:srgbClr val="9FB3C8"/>
                </a:solidFill>
                <a:latin typeface="Aptos"/>
                <a:ea typeface="Aptos"/>
                <a:cs typeface="Aptos"/>
              </a:rPr>
              <a:t>Uses recent frames so the user can ask what changed or where something is without re-capturing.</a:t>
            </a:r>
          </a:p>
        </p:txBody>
      </p:sp>
      <p:sp>
        <p:nvSpPr>
          <p:cNvPr id="36" name="Rectangle 35">
            <a:extLst>
              <a:ext uri="{FF2B5EF4-FFF2-40B4-BE49-F238E27FC236}">
                <a16:creationId xmlns:a16="http://schemas.microsoft.com/office/drawing/2014/main" id="{B0FE6164-7218-435A-B567-86E119D5DC64}"/>
              </a:ext>
            </a:extLst>
          </p:cNvPr>
          <p:cNvSpPr>
            <a:spLocks noGrp="1"/>
          </p:cNvSpPr>
          <p:nvPr/>
        </p:nvSpPr>
        <p:spPr>
          <a:xfrm>
            <a:off x="4800600" y="4495800"/>
            <a:ext cx="6248400" cy="1200150"/>
          </a:xfrm>
          <a:prstGeom prst="rect">
            <a:avLst/>
          </a:prstGeom>
          <a:solidFill>
            <a:srgbClr val="0D1D31"/>
          </a:solidFill>
          <a:ln w="9525">
            <a:solidFill>
              <a:srgbClr val="294562"/>
            </a:solidFill>
            <a:prstDash val="solid"/>
          </a:ln>
        </p:spPr>
      </p:sp>
      <p:sp>
        <p:nvSpPr>
          <p:cNvPr id="37" name="Rectangle 36">
            <a:extLst>
              <a:ext uri="{FF2B5EF4-FFF2-40B4-BE49-F238E27FC236}">
                <a16:creationId xmlns:a16="http://schemas.microsoft.com/office/drawing/2014/main" id="{48577B85-3612-4EE4-A1A5-E66D98BD5D03}"/>
              </a:ext>
            </a:extLst>
          </p:cNvPr>
          <p:cNvSpPr>
            <a:spLocks noGrp="1"/>
          </p:cNvSpPr>
          <p:nvPr/>
        </p:nvSpPr>
        <p:spPr>
          <a:xfrm>
            <a:off x="5067300" y="4724400"/>
            <a:ext cx="2667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Aptos"/>
                <a:ea typeface="Aptos"/>
                <a:cs typeface="Aptos"/>
              </a:defRPr>
            </a:pPr>
            <a:r>
              <a:rPr sz="1125" b="1">
                <a:solidFill>
                  <a:srgbClr val="FFFFFF"/>
                </a:solidFill>
                <a:latin typeface="Aptos"/>
                <a:ea typeface="Aptos"/>
                <a:cs typeface="Aptos"/>
              </a:rPr>
              <a:t>Why this interaction model works</a:t>
            </a:r>
          </a:p>
        </p:txBody>
      </p:sp>
      <p:sp>
        <p:nvSpPr>
          <p:cNvPr id="38" name="Rectangle 37">
            <a:extLst>
              <a:ext uri="{FF2B5EF4-FFF2-40B4-BE49-F238E27FC236}">
                <a16:creationId xmlns:a16="http://schemas.microsoft.com/office/drawing/2014/main" id="{D914E807-CC7C-4A09-89F2-89D71AFA4422}"/>
              </a:ext>
            </a:extLst>
          </p:cNvPr>
          <p:cNvSpPr>
            <a:spLocks noGrp="1"/>
          </p:cNvSpPr>
          <p:nvPr/>
        </p:nvSpPr>
        <p:spPr>
          <a:xfrm>
            <a:off x="5067300" y="5010150"/>
            <a:ext cx="56769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9FB3C8"/>
                </a:solidFill>
                <a:latin typeface="Aptos"/>
                <a:ea typeface="Aptos"/>
                <a:cs typeface="Aptos"/>
              </a:defRPr>
            </a:pPr>
            <a:r>
              <a:rPr sz="938" b="0">
                <a:solidFill>
                  <a:srgbClr val="9FB3C8"/>
                </a:solidFill>
                <a:latin typeface="Aptos"/>
                <a:ea typeface="Aptos"/>
                <a:cs typeface="Aptos"/>
              </a:rPr>
              <a:t>The page avoids dense controls and keeps the interaction loop predictable: capture, hear the scene, ask a narrow question, repeat. That makes it more usable under stress than a visually busy assistant UI.</a:t>
            </a:r>
          </a:p>
        </p:txBody>
      </p:sp>
      <p:sp>
        <p:nvSpPr>
          <p:cNvPr id="39" name="Rectangle 38">
            <a:extLst>
              <a:ext uri="{FF2B5EF4-FFF2-40B4-BE49-F238E27FC236}">
                <a16:creationId xmlns:a16="http://schemas.microsoft.com/office/drawing/2014/main" id="{37C8A9E3-B713-474C-B57F-FE3919251865}"/>
              </a:ext>
            </a:extLst>
          </p:cNvPr>
          <p:cNvSpPr>
            <a:spLocks noGrp="1"/>
          </p:cNvSpPr>
          <p:nvPr/>
        </p:nvSpPr>
        <p:spPr>
          <a:xfrm>
            <a:off x="609600" y="6515100"/>
            <a:ext cx="10972800" cy="9525"/>
          </a:xfrm>
          <a:prstGeom prst="rect">
            <a:avLst/>
          </a:prstGeom>
          <a:solidFill>
            <a:srgbClr val="294562"/>
          </a:solidFill>
          <a:ln w="0">
            <a:solidFill>
              <a:srgbClr val="000000">
                <a:alpha val="0"/>
              </a:srgbClr>
            </a:solidFill>
            <a:prstDash val="solid"/>
          </a:ln>
        </p:spPr>
      </p:sp>
      <p:sp>
        <p:nvSpPr>
          <p:cNvPr id="40" name="Rectangle 39">
            <a:extLst>
              <a:ext uri="{FF2B5EF4-FFF2-40B4-BE49-F238E27FC236}">
                <a16:creationId xmlns:a16="http://schemas.microsoft.com/office/drawing/2014/main" id="{C6B12C3A-6155-4E1E-AE61-1AA70F62F615}"/>
              </a:ext>
            </a:extLst>
          </p:cNvPr>
          <p:cNvSpPr>
            <a:spLocks noGrp="1"/>
          </p:cNvSpPr>
          <p:nvPr/>
        </p:nvSpPr>
        <p:spPr>
          <a:xfrm>
            <a:off x="609600" y="6581775"/>
            <a:ext cx="93345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00" b="0">
                <a:solidFill>
                  <a:srgbClr val="7E96B0"/>
                </a:solidFill>
                <a:latin typeface="Aptos"/>
                <a:ea typeface="Aptos"/>
                <a:cs typeface="Aptos"/>
              </a:defRPr>
            </a:pPr>
            <a:r>
              <a:rPr sz="600" b="0">
                <a:solidFill>
                  <a:srgbClr val="7E96B0"/>
                </a:solidFill>
                <a:latin typeface="Aptos"/>
                <a:ea typeface="Aptos"/>
                <a:cs typeface="Aptos"/>
              </a:rPr>
              <a:t>Source: frontend/src/pages/SceneAssistantPage.tsx, frontend/src/hooks/useVoiceControl.ts, frontend/src/hooks/useTTS.ts</a:t>
            </a:r>
          </a:p>
        </p:txBody>
      </p:sp>
      <p:sp>
        <p:nvSpPr>
          <p:cNvPr id="41" name="Rectangle 40">
            <a:extLst>
              <a:ext uri="{FF2B5EF4-FFF2-40B4-BE49-F238E27FC236}">
                <a16:creationId xmlns:a16="http://schemas.microsoft.com/office/drawing/2014/main" id="{C7275D20-568B-4F72-96A3-EBF67D180070}"/>
              </a:ext>
            </a:extLst>
          </p:cNvPr>
          <p:cNvSpPr>
            <a:spLocks noGrp="1"/>
          </p:cNvSpPr>
          <p:nvPr/>
        </p:nvSpPr>
        <p:spPr>
          <a:xfrm>
            <a:off x="11125200" y="6543675"/>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9FB3C8"/>
                </a:solidFill>
                <a:latin typeface="Aptos Display"/>
                <a:ea typeface="Aptos Display"/>
                <a:cs typeface="Aptos Display"/>
              </a:defRPr>
            </a:pPr>
            <a:r>
              <a:rPr sz="825" b="1">
                <a:solidFill>
                  <a:srgbClr val="9FB3C8"/>
                </a:solidFill>
                <a:latin typeface="Aptos Display"/>
                <a:ea typeface="Aptos Display"/>
                <a:cs typeface="Aptos Display"/>
              </a:rPr>
              <a:t>03</a:t>
            </a:r>
          </a:p>
        </p:txBody>
      </p:sp>
    </p:spTree>
    <p:extLst>
      <p:ext uri="{BB962C8B-B14F-4D97-AF65-F5344CB8AC3E}">
        <p14:creationId xmlns:p14="http://schemas.microsoft.com/office/powerpoint/2010/main" val="1697993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D7D88725-E863-4C48-BE8D-0EF708B9BCE5}"/>
              </a:ext>
            </a:extLst>
          </p:cNvPr>
          <p:cNvSpPr>
            <a:spLocks noGrp="1"/>
          </p:cNvSpPr>
          <p:nvPr/>
        </p:nvSpPr>
        <p:spPr>
          <a:xfrm>
            <a:off x="0" y="0"/>
            <a:ext cx="12192000" cy="6858000"/>
          </a:xfrm>
          <a:prstGeom prst="rect">
            <a:avLst/>
          </a:prstGeom>
          <a:solidFill>
            <a:srgbClr val="07111F"/>
          </a:solidFill>
          <a:ln w="0">
            <a:solidFill>
              <a:srgbClr val="000000">
                <a:alpha val="0"/>
              </a:srgbClr>
            </a:solidFill>
            <a:prstDash val="solid"/>
          </a:ln>
        </p:spPr>
      </p:sp>
      <p:sp>
        <p:nvSpPr>
          <p:cNvPr id="2" name="Rectangle 1">
            <a:extLst>
              <a:ext uri="{FF2B5EF4-FFF2-40B4-BE49-F238E27FC236}">
                <a16:creationId xmlns:a16="http://schemas.microsoft.com/office/drawing/2014/main" id="{378B5EE9-3D39-4B75-B5D1-5B5032CFF994}"/>
              </a:ext>
            </a:extLst>
          </p:cNvPr>
          <p:cNvSpPr>
            <a:spLocks noGrp="1"/>
          </p:cNvSpPr>
          <p:nvPr/>
        </p:nvSpPr>
        <p:spPr>
          <a:xfrm>
            <a:off x="0" y="0"/>
            <a:ext cx="12192000" cy="1790700"/>
          </a:xfrm>
          <a:prstGeom prst="rect">
            <a:avLst/>
          </a:prstGeom>
          <a:solidFill>
            <a:srgbClr val="0A1730"/>
          </a:solidFill>
          <a:ln w="0">
            <a:solidFill>
              <a:srgbClr val="000000">
                <a:alpha val="0"/>
              </a:srgbClr>
            </a:solidFill>
            <a:prstDash val="solid"/>
          </a:ln>
        </p:spPr>
      </p:sp>
      <p:sp>
        <p:nvSpPr>
          <p:cNvPr id="3" name="Rectangle 2">
            <a:extLst>
              <a:ext uri="{FF2B5EF4-FFF2-40B4-BE49-F238E27FC236}">
                <a16:creationId xmlns:a16="http://schemas.microsoft.com/office/drawing/2014/main" id="{1EAE9E40-EA33-4E3B-9256-04EEE4078961}"/>
              </a:ext>
            </a:extLst>
          </p:cNvPr>
          <p:cNvSpPr>
            <a:spLocks noGrp="1"/>
          </p:cNvSpPr>
          <p:nvPr/>
        </p:nvSpPr>
        <p:spPr>
          <a:xfrm>
            <a:off x="9144000" y="0"/>
            <a:ext cx="3048000" cy="6858000"/>
          </a:xfrm>
          <a:prstGeom prst="rect">
            <a:avLst/>
          </a:prstGeom>
          <a:solidFill>
            <a:srgbClr val="081523"/>
          </a:solidFill>
          <a:ln w="0">
            <a:solidFill>
              <a:srgbClr val="000000">
                <a:alpha val="0"/>
              </a:srgbClr>
            </a:solidFill>
            <a:prstDash val="solid"/>
          </a:ln>
        </p:spPr>
      </p:sp>
      <p:sp>
        <p:nvSpPr>
          <p:cNvPr id="4" name="Rectangle 3">
            <a:extLst>
              <a:ext uri="{FF2B5EF4-FFF2-40B4-BE49-F238E27FC236}">
                <a16:creationId xmlns:a16="http://schemas.microsoft.com/office/drawing/2014/main" id="{1AD9E517-EEDB-44EB-9EF8-BF8F686E22DF}"/>
              </a:ext>
            </a:extLst>
          </p:cNvPr>
          <p:cNvSpPr>
            <a:spLocks noGrp="1"/>
          </p:cNvSpPr>
          <p:nvPr/>
        </p:nvSpPr>
        <p:spPr>
          <a:xfrm>
            <a:off x="609600" y="457200"/>
            <a:ext cx="95250" cy="95250"/>
          </a:xfrm>
          <a:prstGeom prst="rect">
            <a:avLst/>
          </a:prstGeom>
          <a:solidFill>
            <a:srgbClr val="30D5C8"/>
          </a:solidFill>
          <a:ln w="0">
            <a:solidFill>
              <a:srgbClr val="000000">
                <a:alpha val="0"/>
              </a:srgbClr>
            </a:solidFill>
            <a:prstDash val="solid"/>
          </a:ln>
        </p:spPr>
      </p:sp>
      <p:sp>
        <p:nvSpPr>
          <p:cNvPr id="5" name="Rectangle 4">
            <a:extLst>
              <a:ext uri="{FF2B5EF4-FFF2-40B4-BE49-F238E27FC236}">
                <a16:creationId xmlns:a16="http://schemas.microsoft.com/office/drawing/2014/main" id="{B00E34E9-978F-43AF-8106-770A17D896CA}"/>
              </a:ext>
            </a:extLst>
          </p:cNvPr>
          <p:cNvSpPr>
            <a:spLocks noGrp="1"/>
          </p:cNvSpPr>
          <p:nvPr/>
        </p:nvSpPr>
        <p:spPr>
          <a:xfrm>
            <a:off x="800100" y="409575"/>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9FB3C8"/>
                </a:solidFill>
                <a:latin typeface="Aptos"/>
                <a:ea typeface="Aptos"/>
                <a:cs typeface="Aptos"/>
              </a:defRPr>
            </a:pPr>
            <a:r>
              <a:rPr sz="750" b="1">
                <a:solidFill>
                  <a:srgbClr val="9FB3C8"/>
                </a:solidFill>
                <a:latin typeface="Aptos"/>
                <a:ea typeface="Aptos"/>
                <a:cs typeface="Aptos"/>
              </a:rPr>
              <a:t>ACCESSIBILITY AND SAFETY</a:t>
            </a:r>
          </a:p>
        </p:txBody>
      </p:sp>
      <p:sp>
        <p:nvSpPr>
          <p:cNvPr id="6" name="Rectangle 5">
            <a:extLst>
              <a:ext uri="{FF2B5EF4-FFF2-40B4-BE49-F238E27FC236}">
                <a16:creationId xmlns:a16="http://schemas.microsoft.com/office/drawing/2014/main" id="{11A9361A-DCC9-4D12-B386-E9802D5A47DF}"/>
              </a:ext>
            </a:extLst>
          </p:cNvPr>
          <p:cNvSpPr>
            <a:spLocks noGrp="1"/>
          </p:cNvSpPr>
          <p:nvPr/>
        </p:nvSpPr>
        <p:spPr>
          <a:xfrm>
            <a:off x="609600" y="742950"/>
            <a:ext cx="7239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FFFFF"/>
                </a:solidFill>
                <a:latin typeface="Aptos Display"/>
                <a:ea typeface="Aptos Display"/>
                <a:cs typeface="Aptos Display"/>
              </a:defRPr>
            </a:pPr>
            <a:r>
              <a:rPr sz="2475" b="1">
                <a:solidFill>
                  <a:srgbClr val="FFFFFF"/>
                </a:solidFill>
                <a:latin typeface="Aptos Display"/>
                <a:ea typeface="Aptos Display"/>
                <a:cs typeface="Aptos Display"/>
              </a:rPr>
              <a:t>The strongest part of the project is not the model call. It is the accessibility discipline wrapped around it.</a:t>
            </a:r>
          </a:p>
        </p:txBody>
      </p:sp>
      <p:sp>
        <p:nvSpPr>
          <p:cNvPr id="7" name="Rectangle 6">
            <a:extLst>
              <a:ext uri="{FF2B5EF4-FFF2-40B4-BE49-F238E27FC236}">
                <a16:creationId xmlns:a16="http://schemas.microsoft.com/office/drawing/2014/main" id="{43DE501B-5091-4F0C-A202-751BC02B6451}"/>
              </a:ext>
            </a:extLst>
          </p:cNvPr>
          <p:cNvSpPr>
            <a:spLocks noGrp="1"/>
          </p:cNvSpPr>
          <p:nvPr/>
        </p:nvSpPr>
        <p:spPr>
          <a:xfrm>
            <a:off x="609600" y="1752600"/>
            <a:ext cx="520065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0">
                <a:solidFill>
                  <a:srgbClr val="9FB3C8"/>
                </a:solidFill>
                <a:latin typeface="Aptos"/>
                <a:ea typeface="Aptos"/>
                <a:cs typeface="Aptos"/>
              </a:defRPr>
            </a:pPr>
            <a:r>
              <a:rPr sz="1163" b="0">
                <a:solidFill>
                  <a:srgbClr val="9FB3C8"/>
                </a:solidFill>
                <a:latin typeface="Aptos"/>
                <a:ea typeface="Aptos"/>
                <a:cs typeface="Aptos"/>
              </a:rPr>
              <a:t>SightSync is built to be legible, keyboard-navigable, and audio-friendly before it is clever. That matters because the real product promise is trust: the user should know when to listen, when to ask again, and when the app is unsure.</a:t>
            </a:r>
          </a:p>
        </p:txBody>
      </p:sp>
      <p:sp>
        <p:nvSpPr>
          <p:cNvPr id="8" name="Rectangle 7">
            <a:extLst>
              <a:ext uri="{FF2B5EF4-FFF2-40B4-BE49-F238E27FC236}">
                <a16:creationId xmlns:a16="http://schemas.microsoft.com/office/drawing/2014/main" id="{7980D9EE-CFF9-4D90-ADE3-E779235D3EB9}"/>
              </a:ext>
            </a:extLst>
          </p:cNvPr>
          <p:cNvSpPr>
            <a:spLocks noGrp="1"/>
          </p:cNvSpPr>
          <p:nvPr/>
        </p:nvSpPr>
        <p:spPr>
          <a:xfrm>
            <a:off x="609600" y="2933700"/>
            <a:ext cx="38100" cy="552450"/>
          </a:xfrm>
          <a:prstGeom prst="rect">
            <a:avLst/>
          </a:prstGeom>
          <a:solidFill>
            <a:srgbClr val="4DA3FF"/>
          </a:solidFill>
          <a:ln w="0">
            <a:solidFill>
              <a:srgbClr val="000000">
                <a:alpha val="0"/>
              </a:srgbClr>
            </a:solidFill>
            <a:prstDash val="solid"/>
          </a:ln>
        </p:spPr>
      </p:sp>
      <p:sp>
        <p:nvSpPr>
          <p:cNvPr id="9" name="Rectangle 8">
            <a:extLst>
              <a:ext uri="{FF2B5EF4-FFF2-40B4-BE49-F238E27FC236}">
                <a16:creationId xmlns:a16="http://schemas.microsoft.com/office/drawing/2014/main" id="{48BD54B3-3949-4A42-ADFB-B7848EA01E7B}"/>
              </a:ext>
            </a:extLst>
          </p:cNvPr>
          <p:cNvSpPr>
            <a:spLocks noGrp="1"/>
          </p:cNvSpPr>
          <p:nvPr/>
        </p:nvSpPr>
        <p:spPr>
          <a:xfrm>
            <a:off x="742950" y="2914650"/>
            <a:ext cx="1676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FFFFFF"/>
                </a:solidFill>
                <a:latin typeface="Aptos Display"/>
                <a:ea typeface="Aptos Display"/>
                <a:cs typeface="Aptos Display"/>
              </a:defRPr>
            </a:pPr>
            <a:r>
              <a:rPr sz="1950" b="1">
                <a:solidFill>
                  <a:srgbClr val="FFFFFF"/>
                </a:solidFill>
                <a:latin typeface="Aptos Display"/>
                <a:ea typeface="Aptos Display"/>
                <a:cs typeface="Aptos Display"/>
              </a:rPr>
              <a:t>aria</a:t>
            </a:r>
          </a:p>
        </p:txBody>
      </p:sp>
      <p:sp>
        <p:nvSpPr>
          <p:cNvPr id="10" name="Rectangle 9">
            <a:extLst>
              <a:ext uri="{FF2B5EF4-FFF2-40B4-BE49-F238E27FC236}">
                <a16:creationId xmlns:a16="http://schemas.microsoft.com/office/drawing/2014/main" id="{281BC3A4-DA5C-4CFC-BA82-BA63F5D70FAC}"/>
              </a:ext>
            </a:extLst>
          </p:cNvPr>
          <p:cNvSpPr>
            <a:spLocks noGrp="1"/>
          </p:cNvSpPr>
          <p:nvPr/>
        </p:nvSpPr>
        <p:spPr>
          <a:xfrm>
            <a:off x="742950" y="3209925"/>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9FB3C8"/>
                </a:solidFill>
                <a:latin typeface="Aptos"/>
                <a:ea typeface="Aptos"/>
                <a:cs typeface="Aptos"/>
              </a:defRPr>
            </a:pPr>
            <a:r>
              <a:rPr sz="713" b="1">
                <a:solidFill>
                  <a:srgbClr val="9FB3C8"/>
                </a:solidFill>
                <a:latin typeface="Aptos"/>
                <a:ea typeface="Aptos"/>
                <a:cs typeface="Aptos"/>
              </a:rPr>
              <a:t>descriptive semantics</a:t>
            </a:r>
          </a:p>
        </p:txBody>
      </p:sp>
      <p:sp>
        <p:nvSpPr>
          <p:cNvPr id="11" name="Rectangle 10">
            <a:extLst>
              <a:ext uri="{FF2B5EF4-FFF2-40B4-BE49-F238E27FC236}">
                <a16:creationId xmlns:a16="http://schemas.microsoft.com/office/drawing/2014/main" id="{C39B8087-F5C4-45C3-A5EB-71AAE1AFCBD4}"/>
              </a:ext>
            </a:extLst>
          </p:cNvPr>
          <p:cNvSpPr>
            <a:spLocks noGrp="1"/>
          </p:cNvSpPr>
          <p:nvPr/>
        </p:nvSpPr>
        <p:spPr>
          <a:xfrm>
            <a:off x="742950" y="3343275"/>
            <a:ext cx="2000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7E96B0"/>
                </a:solidFill>
                <a:latin typeface="Aptos"/>
                <a:ea typeface="Aptos"/>
                <a:cs typeface="Aptos"/>
              </a:defRPr>
            </a:pPr>
            <a:r>
              <a:rPr sz="638" b="0">
                <a:solidFill>
                  <a:srgbClr val="7E96B0"/>
                </a:solidFill>
                <a:latin typeface="Aptos"/>
                <a:ea typeface="Aptos"/>
                <a:cs typeface="Aptos"/>
              </a:rPr>
              <a:t>interactive elements expose screen reader labels</a:t>
            </a:r>
          </a:p>
        </p:txBody>
      </p:sp>
      <p:sp>
        <p:nvSpPr>
          <p:cNvPr id="12" name="Rectangle 11">
            <a:extLst>
              <a:ext uri="{FF2B5EF4-FFF2-40B4-BE49-F238E27FC236}">
                <a16:creationId xmlns:a16="http://schemas.microsoft.com/office/drawing/2014/main" id="{7480593F-6740-4039-87A2-F275014F9280}"/>
              </a:ext>
            </a:extLst>
          </p:cNvPr>
          <p:cNvSpPr>
            <a:spLocks noGrp="1"/>
          </p:cNvSpPr>
          <p:nvPr/>
        </p:nvSpPr>
        <p:spPr>
          <a:xfrm>
            <a:off x="3048000" y="2933700"/>
            <a:ext cx="38100" cy="552450"/>
          </a:xfrm>
          <a:prstGeom prst="rect">
            <a:avLst/>
          </a:prstGeom>
          <a:solidFill>
            <a:srgbClr val="FF6B6B"/>
          </a:solidFill>
          <a:ln w="0">
            <a:solidFill>
              <a:srgbClr val="000000">
                <a:alpha val="0"/>
              </a:srgbClr>
            </a:solidFill>
            <a:prstDash val="solid"/>
          </a:ln>
        </p:spPr>
      </p:sp>
      <p:sp>
        <p:nvSpPr>
          <p:cNvPr id="13" name="Rectangle 12">
            <a:extLst>
              <a:ext uri="{FF2B5EF4-FFF2-40B4-BE49-F238E27FC236}">
                <a16:creationId xmlns:a16="http://schemas.microsoft.com/office/drawing/2014/main" id="{B8624937-F2C3-47EE-8BC8-340D29305273}"/>
              </a:ext>
            </a:extLst>
          </p:cNvPr>
          <p:cNvSpPr>
            <a:spLocks noGrp="1"/>
          </p:cNvSpPr>
          <p:nvPr/>
        </p:nvSpPr>
        <p:spPr>
          <a:xfrm>
            <a:off x="3181350" y="2914650"/>
            <a:ext cx="1676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FFFFFF"/>
                </a:solidFill>
                <a:latin typeface="Aptos Display"/>
                <a:ea typeface="Aptos Display"/>
                <a:cs typeface="Aptos Display"/>
              </a:defRPr>
            </a:pPr>
            <a:r>
              <a:rPr sz="1950" b="1">
                <a:solidFill>
                  <a:srgbClr val="FFFFFF"/>
                </a:solidFill>
                <a:latin typeface="Aptos Display"/>
                <a:ea typeface="Aptos Display"/>
                <a:cs typeface="Aptos Display"/>
              </a:rPr>
              <a:t>role=alert</a:t>
            </a:r>
          </a:p>
        </p:txBody>
      </p:sp>
      <p:sp>
        <p:nvSpPr>
          <p:cNvPr id="14" name="Rectangle 13">
            <a:extLst>
              <a:ext uri="{FF2B5EF4-FFF2-40B4-BE49-F238E27FC236}">
                <a16:creationId xmlns:a16="http://schemas.microsoft.com/office/drawing/2014/main" id="{8F09E229-945D-4737-BC24-1CC238963BDE}"/>
              </a:ext>
            </a:extLst>
          </p:cNvPr>
          <p:cNvSpPr>
            <a:spLocks noGrp="1"/>
          </p:cNvSpPr>
          <p:nvPr/>
        </p:nvSpPr>
        <p:spPr>
          <a:xfrm>
            <a:off x="3181350" y="3209925"/>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9FB3C8"/>
                </a:solidFill>
                <a:latin typeface="Aptos"/>
                <a:ea typeface="Aptos"/>
                <a:cs typeface="Aptos"/>
              </a:defRPr>
            </a:pPr>
            <a:r>
              <a:rPr sz="713" b="1">
                <a:solidFill>
                  <a:srgbClr val="9FB3C8"/>
                </a:solidFill>
                <a:latin typeface="Aptos"/>
                <a:ea typeface="Aptos"/>
                <a:cs typeface="Aptos"/>
              </a:rPr>
              <a:t>immediate error surfacing</a:t>
            </a:r>
          </a:p>
        </p:txBody>
      </p:sp>
      <p:sp>
        <p:nvSpPr>
          <p:cNvPr id="15" name="Rectangle 14">
            <a:extLst>
              <a:ext uri="{FF2B5EF4-FFF2-40B4-BE49-F238E27FC236}">
                <a16:creationId xmlns:a16="http://schemas.microsoft.com/office/drawing/2014/main" id="{A82DD93D-30F0-483D-9518-4EE3A13D54B3}"/>
              </a:ext>
            </a:extLst>
          </p:cNvPr>
          <p:cNvSpPr>
            <a:spLocks noGrp="1"/>
          </p:cNvSpPr>
          <p:nvPr/>
        </p:nvSpPr>
        <p:spPr>
          <a:xfrm>
            <a:off x="3181350" y="3343275"/>
            <a:ext cx="2000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7E96B0"/>
                </a:solidFill>
                <a:latin typeface="Aptos"/>
                <a:ea typeface="Aptos"/>
                <a:cs typeface="Aptos"/>
              </a:defRPr>
            </a:pPr>
            <a:r>
              <a:rPr sz="638" b="0">
                <a:solidFill>
                  <a:srgbClr val="7E96B0"/>
                </a:solidFill>
                <a:latin typeface="Aptos"/>
                <a:ea typeface="Aptos"/>
                <a:cs typeface="Aptos"/>
              </a:rPr>
              <a:t>critical errors are announced instead of hidden</a:t>
            </a:r>
          </a:p>
        </p:txBody>
      </p:sp>
      <p:sp>
        <p:nvSpPr>
          <p:cNvPr id="16" name="Rectangle 15">
            <a:extLst>
              <a:ext uri="{FF2B5EF4-FFF2-40B4-BE49-F238E27FC236}">
                <a16:creationId xmlns:a16="http://schemas.microsoft.com/office/drawing/2014/main" id="{99E95B64-E0D0-4FE7-A796-54DF0BD93194}"/>
              </a:ext>
            </a:extLst>
          </p:cNvPr>
          <p:cNvSpPr>
            <a:spLocks noGrp="1"/>
          </p:cNvSpPr>
          <p:nvPr/>
        </p:nvSpPr>
        <p:spPr>
          <a:xfrm>
            <a:off x="5486400" y="2933700"/>
            <a:ext cx="38100" cy="552450"/>
          </a:xfrm>
          <a:prstGeom prst="rect">
            <a:avLst/>
          </a:prstGeom>
          <a:solidFill>
            <a:srgbClr val="30D5C8"/>
          </a:solidFill>
          <a:ln w="0">
            <a:solidFill>
              <a:srgbClr val="000000">
                <a:alpha val="0"/>
              </a:srgbClr>
            </a:solidFill>
            <a:prstDash val="solid"/>
          </a:ln>
        </p:spPr>
      </p:sp>
      <p:sp>
        <p:nvSpPr>
          <p:cNvPr id="17" name="Rectangle 16">
            <a:extLst>
              <a:ext uri="{FF2B5EF4-FFF2-40B4-BE49-F238E27FC236}">
                <a16:creationId xmlns:a16="http://schemas.microsoft.com/office/drawing/2014/main" id="{8C5BF4E4-F9AD-4ABA-84C8-E27EA7D4E74C}"/>
              </a:ext>
            </a:extLst>
          </p:cNvPr>
          <p:cNvSpPr>
            <a:spLocks noGrp="1"/>
          </p:cNvSpPr>
          <p:nvPr/>
        </p:nvSpPr>
        <p:spPr>
          <a:xfrm>
            <a:off x="5619750" y="2914650"/>
            <a:ext cx="16764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FFFFFF"/>
                </a:solidFill>
                <a:latin typeface="Aptos Display"/>
                <a:ea typeface="Aptos Display"/>
                <a:cs typeface="Aptos Display"/>
              </a:defRPr>
            </a:pPr>
            <a:r>
              <a:rPr sz="1950" b="1">
                <a:solidFill>
                  <a:srgbClr val="FFFFFF"/>
                </a:solidFill>
                <a:latin typeface="Aptos Display"/>
                <a:ea typeface="Aptos Display"/>
                <a:cs typeface="Aptos Display"/>
              </a:rPr>
              <a:t>fallback</a:t>
            </a:r>
          </a:p>
        </p:txBody>
      </p:sp>
      <p:sp>
        <p:nvSpPr>
          <p:cNvPr id="18" name="Rectangle 17">
            <a:extLst>
              <a:ext uri="{FF2B5EF4-FFF2-40B4-BE49-F238E27FC236}">
                <a16:creationId xmlns:a16="http://schemas.microsoft.com/office/drawing/2014/main" id="{C835DD2A-A465-402B-8014-840CF8D41F32}"/>
              </a:ext>
            </a:extLst>
          </p:cNvPr>
          <p:cNvSpPr>
            <a:spLocks noGrp="1"/>
          </p:cNvSpPr>
          <p:nvPr/>
        </p:nvSpPr>
        <p:spPr>
          <a:xfrm>
            <a:off x="5619750" y="3209925"/>
            <a:ext cx="180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1">
                <a:solidFill>
                  <a:srgbClr val="9FB3C8"/>
                </a:solidFill>
                <a:latin typeface="Aptos"/>
                <a:ea typeface="Aptos"/>
                <a:cs typeface="Aptos"/>
              </a:defRPr>
            </a:pPr>
            <a:r>
              <a:rPr sz="713" b="1">
                <a:solidFill>
                  <a:srgbClr val="9FB3C8"/>
                </a:solidFill>
                <a:latin typeface="Aptos"/>
                <a:ea typeface="Aptos"/>
                <a:cs typeface="Aptos"/>
              </a:rPr>
              <a:t>browser speech synthesis</a:t>
            </a:r>
          </a:p>
        </p:txBody>
      </p:sp>
      <p:sp>
        <p:nvSpPr>
          <p:cNvPr id="19" name="Rectangle 18">
            <a:extLst>
              <a:ext uri="{FF2B5EF4-FFF2-40B4-BE49-F238E27FC236}">
                <a16:creationId xmlns:a16="http://schemas.microsoft.com/office/drawing/2014/main" id="{CA614AB7-3A02-49A7-9C8C-FA8BC3B79BC7}"/>
              </a:ext>
            </a:extLst>
          </p:cNvPr>
          <p:cNvSpPr>
            <a:spLocks noGrp="1"/>
          </p:cNvSpPr>
          <p:nvPr/>
        </p:nvSpPr>
        <p:spPr>
          <a:xfrm>
            <a:off x="5619750" y="3343275"/>
            <a:ext cx="2000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7E96B0"/>
                </a:solidFill>
                <a:latin typeface="Aptos"/>
                <a:ea typeface="Aptos"/>
                <a:cs typeface="Aptos"/>
              </a:defRPr>
            </a:pPr>
            <a:r>
              <a:rPr sz="638" b="0">
                <a:solidFill>
                  <a:srgbClr val="7E96B0"/>
                </a:solidFill>
                <a:latin typeface="Aptos"/>
                <a:ea typeface="Aptos"/>
                <a:cs typeface="Aptos"/>
              </a:rPr>
              <a:t>audio still works when server speech is unavailable</a:t>
            </a:r>
          </a:p>
        </p:txBody>
      </p:sp>
      <p:sp>
        <p:nvSpPr>
          <p:cNvPr id="20" name="Rectangle 19">
            <a:extLst>
              <a:ext uri="{FF2B5EF4-FFF2-40B4-BE49-F238E27FC236}">
                <a16:creationId xmlns:a16="http://schemas.microsoft.com/office/drawing/2014/main" id="{4DD91216-38D3-46DF-92F6-9EBCAEE682A5}"/>
              </a:ext>
            </a:extLst>
          </p:cNvPr>
          <p:cNvSpPr>
            <a:spLocks noGrp="1"/>
          </p:cNvSpPr>
          <p:nvPr/>
        </p:nvSpPr>
        <p:spPr>
          <a:xfrm>
            <a:off x="609600" y="3905250"/>
            <a:ext cx="5334000" cy="1905000"/>
          </a:xfrm>
          <a:prstGeom prst="rect">
            <a:avLst/>
          </a:prstGeom>
          <a:solidFill>
            <a:srgbClr val="0C1B2D"/>
          </a:solidFill>
          <a:ln w="9525">
            <a:solidFill>
              <a:srgbClr val="294562"/>
            </a:solidFill>
            <a:prstDash val="solid"/>
          </a:ln>
        </p:spPr>
      </p:sp>
      <p:sp>
        <p:nvSpPr>
          <p:cNvPr id="21" name="Rectangle 20">
            <a:extLst>
              <a:ext uri="{FF2B5EF4-FFF2-40B4-BE49-F238E27FC236}">
                <a16:creationId xmlns:a16="http://schemas.microsoft.com/office/drawing/2014/main" id="{D6272846-3F95-4568-8319-E75B8360FE0B}"/>
              </a:ext>
            </a:extLst>
          </p:cNvPr>
          <p:cNvSpPr>
            <a:spLocks noGrp="1"/>
          </p:cNvSpPr>
          <p:nvPr/>
        </p:nvSpPr>
        <p:spPr>
          <a:xfrm>
            <a:off x="857250" y="4171950"/>
            <a:ext cx="3143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FFFFFF"/>
                </a:solidFill>
                <a:latin typeface="Aptos"/>
                <a:ea typeface="Aptos"/>
                <a:cs typeface="Aptos"/>
              </a:defRPr>
            </a:pPr>
            <a:r>
              <a:rPr sz="1200" b="1">
                <a:solidFill>
                  <a:srgbClr val="FFFFFF"/>
                </a:solidFill>
                <a:latin typeface="Aptos"/>
                <a:ea typeface="Aptos"/>
                <a:cs typeface="Aptos"/>
              </a:rPr>
              <a:t>Implementation choices that directly help the user</a:t>
            </a:r>
          </a:p>
        </p:txBody>
      </p:sp>
      <p:pic>
        <p:nvPicPr>
          <p:cNvPr id="22" name="Graphic 21"/>
          <p:cNvPicPr>
            <a:picLocks noChangeAspect="1"/>
          </p:cNvPicPr>
          <p:nvPr/>
        </p:nvPicPr>
        <p:blipFill>
          <a:blip>
            <a:extLst>
              <a:ext uri="{96DAC541-7B7A-43D3-8B79-37D633B846F1}">
                <asvg:svgBlip xmlns:asvg="http://schemas.microsoft.com/office/drawing/2016/SVG/main" r:embed="rId3"/>
              </a:ext>
            </a:extLst>
          </a:blip>
          <a:stretch/>
        </p:blipFill>
        <p:spPr>
          <a:xfrm>
            <a:off x="857250" y="4572000"/>
            <a:ext cx="152400" cy="152400"/>
          </a:xfrm>
          <a:prstGeom prst="rect">
            <a:avLst/>
          </a:prstGeom>
        </p:spPr>
      </p:pic>
      <p:sp>
        <p:nvSpPr>
          <p:cNvPr id="23" name="Rectangle 22">
            <a:extLst>
              <a:ext uri="{FF2B5EF4-FFF2-40B4-BE49-F238E27FC236}">
                <a16:creationId xmlns:a16="http://schemas.microsoft.com/office/drawing/2014/main" id="{38F55510-3168-40FE-8B8A-76DCA04CD551}"/>
              </a:ext>
            </a:extLst>
          </p:cNvPr>
          <p:cNvSpPr>
            <a:spLocks noGrp="1"/>
          </p:cNvSpPr>
          <p:nvPr/>
        </p:nvSpPr>
        <p:spPr>
          <a:xfrm>
            <a:off x="1085850" y="4562475"/>
            <a:ext cx="4381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F3F7FB"/>
                </a:solidFill>
                <a:latin typeface="Aptos"/>
                <a:ea typeface="Aptos"/>
                <a:cs typeface="Aptos"/>
              </a:defRPr>
            </a:pPr>
            <a:r>
              <a:rPr sz="863" b="0">
                <a:solidFill>
                  <a:srgbClr val="F3F7FB"/>
                </a:solidFill>
                <a:latin typeface="Aptos"/>
                <a:ea typeface="Aptos"/>
                <a:cs typeface="Aptos"/>
              </a:rPr>
              <a:t>Large 52px button targets reduce precision demands on touch input.</a:t>
            </a:r>
          </a:p>
        </p:txBody>
      </p:sp>
      <p:pic>
        <p:nvPicPr>
          <p:cNvPr id="24" name="Graphic 23"/>
          <p:cNvPicPr>
            <a:picLocks noChangeAspect="1"/>
          </p:cNvPicPr>
          <p:nvPr/>
        </p:nvPicPr>
        <p:blipFill>
          <a:blip>
            <a:extLst>
              <a:ext uri="{96DAC541-7B7A-43D3-8B79-37D633B846F1}">
                <asvg:svgBlip xmlns:asvg="http://schemas.microsoft.com/office/drawing/2016/SVG/main" r:embed="rId3"/>
              </a:ext>
            </a:extLst>
          </a:blip>
          <a:stretch/>
        </p:blipFill>
        <p:spPr>
          <a:xfrm>
            <a:off x="857250" y="4857750"/>
            <a:ext cx="152400" cy="152400"/>
          </a:xfrm>
          <a:prstGeom prst="rect">
            <a:avLst/>
          </a:prstGeom>
        </p:spPr>
      </p:pic>
      <p:sp>
        <p:nvSpPr>
          <p:cNvPr id="25" name="Rectangle 24">
            <a:extLst>
              <a:ext uri="{FF2B5EF4-FFF2-40B4-BE49-F238E27FC236}">
                <a16:creationId xmlns:a16="http://schemas.microsoft.com/office/drawing/2014/main" id="{1A64B3C5-621C-4AC8-81A5-2CF2CFB6598A}"/>
              </a:ext>
            </a:extLst>
          </p:cNvPr>
          <p:cNvSpPr>
            <a:spLocks noGrp="1"/>
          </p:cNvSpPr>
          <p:nvPr/>
        </p:nvSpPr>
        <p:spPr>
          <a:xfrm>
            <a:off x="1085850" y="4848225"/>
            <a:ext cx="4381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F3F7FB"/>
                </a:solidFill>
                <a:latin typeface="Aptos"/>
                <a:ea typeface="Aptos"/>
                <a:cs typeface="Aptos"/>
              </a:defRPr>
            </a:pPr>
            <a:r>
              <a:rPr sz="863" b="0">
                <a:solidFill>
                  <a:srgbClr val="F3F7FB"/>
                </a:solidFill>
                <a:latin typeface="Aptos"/>
                <a:ea typeface="Aptos"/>
                <a:cs typeface="Aptos"/>
              </a:rPr>
              <a:t>Only critical scenes auto-speak, which cuts down on unnecessary chatter.</a:t>
            </a:r>
          </a:p>
        </p:txBody>
      </p:sp>
      <p:pic>
        <p:nvPicPr>
          <p:cNvPr id="26" name="Graphic 25"/>
          <p:cNvPicPr>
            <a:picLocks noChangeAspect="1"/>
          </p:cNvPicPr>
          <p:nvPr/>
        </p:nvPicPr>
        <p:blipFill>
          <a:blip>
            <a:extLst>
              <a:ext uri="{96DAC541-7B7A-43D3-8B79-37D633B846F1}">
                <asvg:svgBlip xmlns:asvg="http://schemas.microsoft.com/office/drawing/2016/SVG/main" r:embed="rId3"/>
              </a:ext>
            </a:extLst>
          </a:blip>
          <a:stretch/>
        </p:blipFill>
        <p:spPr>
          <a:xfrm>
            <a:off x="857250" y="5143500"/>
            <a:ext cx="152400" cy="152400"/>
          </a:xfrm>
          <a:prstGeom prst="rect">
            <a:avLst/>
          </a:prstGeom>
        </p:spPr>
      </p:pic>
      <p:sp>
        <p:nvSpPr>
          <p:cNvPr id="27" name="Rectangle 26">
            <a:extLst>
              <a:ext uri="{FF2B5EF4-FFF2-40B4-BE49-F238E27FC236}">
                <a16:creationId xmlns:a16="http://schemas.microsoft.com/office/drawing/2014/main" id="{5D65614E-0656-48D7-BA5D-F551F1D303E2}"/>
              </a:ext>
            </a:extLst>
          </p:cNvPr>
          <p:cNvSpPr>
            <a:spLocks noGrp="1"/>
          </p:cNvSpPr>
          <p:nvPr/>
        </p:nvSpPr>
        <p:spPr>
          <a:xfrm>
            <a:off x="1085850" y="5133975"/>
            <a:ext cx="4381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F3F7FB"/>
                </a:solidFill>
                <a:latin typeface="Aptos"/>
                <a:ea typeface="Aptos"/>
                <a:cs typeface="Aptos"/>
              </a:defRPr>
            </a:pPr>
            <a:r>
              <a:rPr sz="863" b="0">
                <a:solidFill>
                  <a:srgbClr val="F3F7FB"/>
                </a:solidFill>
                <a:latin typeface="Aptos"/>
                <a:ea typeface="Aptos"/>
                <a:cs typeface="Aptos"/>
              </a:rPr>
              <a:t>The base font is 18px and the interface stays high-contrast by default.</a:t>
            </a:r>
          </a:p>
        </p:txBody>
      </p:sp>
      <p:pic>
        <p:nvPicPr>
          <p:cNvPr id="28" name="Graphic 27"/>
          <p:cNvPicPr>
            <a:picLocks noChangeAspect="1"/>
          </p:cNvPicPr>
          <p:nvPr/>
        </p:nvPicPr>
        <p:blipFill>
          <a:blip>
            <a:extLst>
              <a:ext uri="{96DAC541-7B7A-43D3-8B79-37D633B846F1}">
                <asvg:svgBlip xmlns:asvg="http://schemas.microsoft.com/office/drawing/2016/SVG/main" r:embed="rId3"/>
              </a:ext>
            </a:extLst>
          </a:blip>
          <a:stretch/>
        </p:blipFill>
        <p:spPr>
          <a:xfrm>
            <a:off x="857250" y="5429250"/>
            <a:ext cx="152400" cy="152400"/>
          </a:xfrm>
          <a:prstGeom prst="rect">
            <a:avLst/>
          </a:prstGeom>
        </p:spPr>
      </p:pic>
      <p:sp>
        <p:nvSpPr>
          <p:cNvPr id="29" name="Rectangle 28">
            <a:extLst>
              <a:ext uri="{FF2B5EF4-FFF2-40B4-BE49-F238E27FC236}">
                <a16:creationId xmlns:a16="http://schemas.microsoft.com/office/drawing/2014/main" id="{1F2C1AAB-7600-4097-B98A-6A3E79BA439C}"/>
              </a:ext>
            </a:extLst>
          </p:cNvPr>
          <p:cNvSpPr>
            <a:spLocks noGrp="1"/>
          </p:cNvSpPr>
          <p:nvPr/>
        </p:nvSpPr>
        <p:spPr>
          <a:xfrm>
            <a:off x="1085850" y="5419725"/>
            <a:ext cx="4381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F3F7FB"/>
                </a:solidFill>
                <a:latin typeface="Aptos"/>
                <a:ea typeface="Aptos"/>
                <a:cs typeface="Aptos"/>
              </a:defRPr>
            </a:pPr>
            <a:r>
              <a:rPr sz="863" b="0">
                <a:solidFill>
                  <a:srgbClr val="F3F7FB"/>
                </a:solidFill>
                <a:latin typeface="Aptos"/>
                <a:ea typeface="Aptos"/>
                <a:cs typeface="Aptos"/>
              </a:rPr>
              <a:t>Voice status, loading state, and errors are announced through live regions.</a:t>
            </a:r>
          </a:p>
        </p:txBody>
      </p:sp>
      <p:sp>
        <p:nvSpPr>
          <p:cNvPr id="30" name="Rectangle 29">
            <a:extLst>
              <a:ext uri="{FF2B5EF4-FFF2-40B4-BE49-F238E27FC236}">
                <a16:creationId xmlns:a16="http://schemas.microsoft.com/office/drawing/2014/main" id="{4851D241-39F2-492B-8913-AED53D0EE8A7}"/>
              </a:ext>
            </a:extLst>
          </p:cNvPr>
          <p:cNvSpPr>
            <a:spLocks noGrp="1"/>
          </p:cNvSpPr>
          <p:nvPr/>
        </p:nvSpPr>
        <p:spPr>
          <a:xfrm>
            <a:off x="7239000" y="2038350"/>
            <a:ext cx="4057650" cy="3771900"/>
          </a:xfrm>
          <a:prstGeom prst="rect">
            <a:avLst/>
          </a:prstGeom>
          <a:solidFill>
            <a:srgbClr val="0D1D31"/>
          </a:solidFill>
          <a:ln w="9525">
            <a:solidFill>
              <a:srgbClr val="294562"/>
            </a:solidFill>
            <a:prstDash val="solid"/>
          </a:ln>
        </p:spPr>
      </p:sp>
      <p:sp>
        <p:nvSpPr>
          <p:cNvPr id="31" name="Rectangle 30">
            <a:extLst>
              <a:ext uri="{FF2B5EF4-FFF2-40B4-BE49-F238E27FC236}">
                <a16:creationId xmlns:a16="http://schemas.microsoft.com/office/drawing/2014/main" id="{6D8300CD-16B6-488F-AA88-5DF14AC4E7E1}"/>
              </a:ext>
            </a:extLst>
          </p:cNvPr>
          <p:cNvSpPr>
            <a:spLocks noGrp="1"/>
          </p:cNvSpPr>
          <p:nvPr/>
        </p:nvSpPr>
        <p:spPr>
          <a:xfrm>
            <a:off x="7486650" y="2286000"/>
            <a:ext cx="2286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FFFFFF"/>
                </a:solidFill>
                <a:latin typeface="Aptos"/>
                <a:ea typeface="Aptos"/>
                <a:cs typeface="Aptos"/>
              </a:defRPr>
            </a:pPr>
            <a:r>
              <a:rPr sz="1200" b="1">
                <a:solidFill>
                  <a:srgbClr val="FFFFFF"/>
                </a:solidFill>
                <a:latin typeface="Aptos"/>
                <a:ea typeface="Aptos"/>
                <a:cs typeface="Aptos"/>
              </a:rPr>
              <a:t>Safety logic in plain English</a:t>
            </a:r>
          </a:p>
        </p:txBody>
      </p:sp>
      <p:sp>
        <p:nvSpPr>
          <p:cNvPr id="32" name="Rectangle 31">
            <a:extLst>
              <a:ext uri="{FF2B5EF4-FFF2-40B4-BE49-F238E27FC236}">
                <a16:creationId xmlns:a16="http://schemas.microsoft.com/office/drawing/2014/main" id="{FC2E1FD7-3AED-4361-8E5F-E16917C2112C}"/>
              </a:ext>
            </a:extLst>
          </p:cNvPr>
          <p:cNvSpPr>
            <a:spLocks noGrp="1"/>
          </p:cNvSpPr>
          <p:nvPr/>
        </p:nvSpPr>
        <p:spPr>
          <a:xfrm>
            <a:off x="7486650" y="2609850"/>
            <a:ext cx="34480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9FB3C8"/>
                </a:solidFill>
                <a:latin typeface="Aptos"/>
                <a:ea typeface="Aptos"/>
                <a:cs typeface="Aptos"/>
              </a:defRPr>
            </a:pPr>
            <a:r>
              <a:rPr sz="975" b="0">
                <a:solidFill>
                  <a:srgbClr val="9FB3C8"/>
                </a:solidFill>
                <a:latin typeface="Aptos"/>
                <a:ea typeface="Aptos"/>
                <a:cs typeface="Aptos"/>
              </a:rPr>
              <a:t>The backend prompt forces concise spatial language and separates normal scenes from critical ones. The frontend then uses that `should_speak` flag to decide whether to interrupt with audio or wait for the user to request replay.</a:t>
            </a:r>
          </a:p>
        </p:txBody>
      </p:sp>
      <p:sp>
        <p:nvSpPr>
          <p:cNvPr id="33" name="Rectangle 32">
            <a:extLst>
              <a:ext uri="{FF2B5EF4-FFF2-40B4-BE49-F238E27FC236}">
                <a16:creationId xmlns:a16="http://schemas.microsoft.com/office/drawing/2014/main" id="{E1609CD0-9129-400B-A5D4-0159F24E8565}"/>
              </a:ext>
            </a:extLst>
          </p:cNvPr>
          <p:cNvSpPr>
            <a:spLocks noGrp="1"/>
          </p:cNvSpPr>
          <p:nvPr/>
        </p:nvSpPr>
        <p:spPr>
          <a:xfrm>
            <a:off x="7486650" y="3543300"/>
            <a:ext cx="1485900" cy="1619250"/>
          </a:xfrm>
          <a:prstGeom prst="rect">
            <a:avLst/>
          </a:prstGeom>
          <a:solidFill>
            <a:srgbClr val="12263D"/>
          </a:solidFill>
          <a:ln w="9525">
            <a:solidFill>
              <a:srgbClr val="294562"/>
            </a:solidFill>
            <a:prstDash val="solid"/>
          </a:ln>
        </p:spPr>
      </p:sp>
      <p:sp>
        <p:nvSpPr>
          <p:cNvPr id="34" name="Rectangle 33">
            <a:extLst>
              <a:ext uri="{FF2B5EF4-FFF2-40B4-BE49-F238E27FC236}">
                <a16:creationId xmlns:a16="http://schemas.microsoft.com/office/drawing/2014/main" id="{EEAFA954-0732-43E7-855C-D21E3680AD34}"/>
              </a:ext>
            </a:extLst>
          </p:cNvPr>
          <p:cNvSpPr>
            <a:spLocks noGrp="1"/>
          </p:cNvSpPr>
          <p:nvPr/>
        </p:nvSpPr>
        <p:spPr>
          <a:xfrm>
            <a:off x="7696200" y="3752850"/>
            <a:ext cx="857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4DA3FF"/>
                </a:solidFill>
                <a:latin typeface="Aptos"/>
                <a:ea typeface="Aptos"/>
                <a:cs typeface="Aptos"/>
              </a:defRPr>
            </a:pPr>
            <a:r>
              <a:rPr sz="1050" b="1">
                <a:solidFill>
                  <a:srgbClr val="4DA3FF"/>
                </a:solidFill>
                <a:latin typeface="Aptos"/>
                <a:ea typeface="Aptos"/>
                <a:cs typeface="Aptos"/>
              </a:rPr>
              <a:t>Normal</a:t>
            </a:r>
          </a:p>
        </p:txBody>
      </p:sp>
      <p:sp>
        <p:nvSpPr>
          <p:cNvPr id="35" name="Rectangle 34">
            <a:extLst>
              <a:ext uri="{FF2B5EF4-FFF2-40B4-BE49-F238E27FC236}">
                <a16:creationId xmlns:a16="http://schemas.microsoft.com/office/drawing/2014/main" id="{032B73F4-5A1A-4387-B012-CB387484186E}"/>
              </a:ext>
            </a:extLst>
          </p:cNvPr>
          <p:cNvSpPr>
            <a:spLocks noGrp="1"/>
          </p:cNvSpPr>
          <p:nvPr/>
        </p:nvSpPr>
        <p:spPr>
          <a:xfrm>
            <a:off x="7696200" y="4019550"/>
            <a:ext cx="10668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9FB3C8"/>
                </a:solidFill>
                <a:latin typeface="Aptos"/>
                <a:ea typeface="Aptos"/>
                <a:cs typeface="Aptos"/>
              </a:defRPr>
            </a:pPr>
            <a:r>
              <a:rPr sz="825" b="0">
                <a:solidFill>
                  <a:srgbClr val="9FB3C8"/>
                </a:solidFill>
                <a:latin typeface="Aptos"/>
                <a:ea typeface="Aptos"/>
                <a:cs typeface="Aptos"/>
              </a:rPr>
              <a:t>Describe the scene, tag objects, and leave playback under user control.</a:t>
            </a:r>
          </a:p>
        </p:txBody>
      </p:sp>
      <p:sp>
        <p:nvSpPr>
          <p:cNvPr id="36" name="Rectangle 35">
            <a:extLst>
              <a:ext uri="{FF2B5EF4-FFF2-40B4-BE49-F238E27FC236}">
                <a16:creationId xmlns:a16="http://schemas.microsoft.com/office/drawing/2014/main" id="{78602732-7B5A-442E-8A9D-83DBBD85AE14}"/>
              </a:ext>
            </a:extLst>
          </p:cNvPr>
          <p:cNvSpPr>
            <a:spLocks noGrp="1"/>
          </p:cNvSpPr>
          <p:nvPr/>
        </p:nvSpPr>
        <p:spPr>
          <a:xfrm>
            <a:off x="9163050" y="3543300"/>
            <a:ext cx="1866900" cy="1619250"/>
          </a:xfrm>
          <a:prstGeom prst="rect">
            <a:avLst/>
          </a:prstGeom>
          <a:solidFill>
            <a:srgbClr val="2B1622"/>
          </a:solidFill>
          <a:ln w="9525">
            <a:solidFill>
              <a:srgbClr val="64324B"/>
            </a:solidFill>
            <a:prstDash val="solid"/>
          </a:ln>
        </p:spPr>
      </p:sp>
      <p:sp>
        <p:nvSpPr>
          <p:cNvPr id="37" name="Rectangle 36">
            <a:extLst>
              <a:ext uri="{FF2B5EF4-FFF2-40B4-BE49-F238E27FC236}">
                <a16:creationId xmlns:a16="http://schemas.microsoft.com/office/drawing/2014/main" id="{BCF8BD9C-6FE4-4B50-A8A2-68F99ED44FFE}"/>
              </a:ext>
            </a:extLst>
          </p:cNvPr>
          <p:cNvSpPr>
            <a:spLocks noGrp="1"/>
          </p:cNvSpPr>
          <p:nvPr/>
        </p:nvSpPr>
        <p:spPr>
          <a:xfrm>
            <a:off x="9372600" y="3752850"/>
            <a:ext cx="857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F8EA1"/>
                </a:solidFill>
                <a:latin typeface="Aptos"/>
                <a:ea typeface="Aptos"/>
                <a:cs typeface="Aptos"/>
              </a:defRPr>
            </a:pPr>
            <a:r>
              <a:rPr sz="1050" b="1">
                <a:solidFill>
                  <a:srgbClr val="FF8EA1"/>
                </a:solidFill>
                <a:latin typeface="Aptos"/>
                <a:ea typeface="Aptos"/>
                <a:cs typeface="Aptos"/>
              </a:rPr>
              <a:t>Critical</a:t>
            </a:r>
          </a:p>
        </p:txBody>
      </p:sp>
      <p:sp>
        <p:nvSpPr>
          <p:cNvPr id="38" name="Rectangle 37">
            <a:extLst>
              <a:ext uri="{FF2B5EF4-FFF2-40B4-BE49-F238E27FC236}">
                <a16:creationId xmlns:a16="http://schemas.microsoft.com/office/drawing/2014/main" id="{EDA85E51-9AA5-45EB-AB94-4C63C5136835}"/>
              </a:ext>
            </a:extLst>
          </p:cNvPr>
          <p:cNvSpPr>
            <a:spLocks noGrp="1"/>
          </p:cNvSpPr>
          <p:nvPr/>
        </p:nvSpPr>
        <p:spPr>
          <a:xfrm>
            <a:off x="9372600" y="4019550"/>
            <a:ext cx="13335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E9C7D2"/>
                </a:solidFill>
                <a:latin typeface="Aptos"/>
                <a:ea typeface="Aptos"/>
                <a:cs typeface="Aptos"/>
              </a:defRPr>
            </a:pPr>
            <a:r>
              <a:rPr sz="825" b="0">
                <a:solidFill>
                  <a:srgbClr val="E9C7D2"/>
                </a:solidFill>
                <a:latin typeface="Aptos"/>
                <a:ea typeface="Aptos"/>
                <a:cs typeface="Aptos"/>
              </a:rPr>
              <a:t>Speak automatically only for hazards such as obstacles, vehicles, stairs, drop-offs, or warning cues.</a:t>
            </a:r>
          </a:p>
        </p:txBody>
      </p:sp>
      <p:sp>
        <p:nvSpPr>
          <p:cNvPr id="39" name="Rectangle 38">
            <a:extLst>
              <a:ext uri="{FF2B5EF4-FFF2-40B4-BE49-F238E27FC236}">
                <a16:creationId xmlns:a16="http://schemas.microsoft.com/office/drawing/2014/main" id="{ACD19A43-39EE-4A22-B9E0-2B42150E8610}"/>
              </a:ext>
            </a:extLst>
          </p:cNvPr>
          <p:cNvSpPr>
            <a:spLocks noGrp="1"/>
          </p:cNvSpPr>
          <p:nvPr/>
        </p:nvSpPr>
        <p:spPr>
          <a:xfrm>
            <a:off x="609600" y="6515100"/>
            <a:ext cx="10972800" cy="9525"/>
          </a:xfrm>
          <a:prstGeom prst="rect">
            <a:avLst/>
          </a:prstGeom>
          <a:solidFill>
            <a:srgbClr val="294562"/>
          </a:solidFill>
          <a:ln w="0">
            <a:solidFill>
              <a:srgbClr val="000000">
                <a:alpha val="0"/>
              </a:srgbClr>
            </a:solidFill>
            <a:prstDash val="solid"/>
          </a:ln>
        </p:spPr>
      </p:sp>
      <p:sp>
        <p:nvSpPr>
          <p:cNvPr id="40" name="Rectangle 39">
            <a:extLst>
              <a:ext uri="{FF2B5EF4-FFF2-40B4-BE49-F238E27FC236}">
                <a16:creationId xmlns:a16="http://schemas.microsoft.com/office/drawing/2014/main" id="{ECA6D10B-4BBC-4913-9665-4A9868E8F2C7}"/>
              </a:ext>
            </a:extLst>
          </p:cNvPr>
          <p:cNvSpPr>
            <a:spLocks noGrp="1"/>
          </p:cNvSpPr>
          <p:nvPr/>
        </p:nvSpPr>
        <p:spPr>
          <a:xfrm>
            <a:off x="609600" y="6581775"/>
            <a:ext cx="93345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00" b="0">
                <a:solidFill>
                  <a:srgbClr val="7E96B0"/>
                </a:solidFill>
                <a:latin typeface="Aptos"/>
                <a:ea typeface="Aptos"/>
                <a:cs typeface="Aptos"/>
              </a:defRPr>
            </a:pPr>
            <a:r>
              <a:rPr sz="600" b="0">
                <a:solidFill>
                  <a:srgbClr val="7E96B0"/>
                </a:solidFill>
                <a:latin typeface="Aptos"/>
                <a:ea typeface="Aptos"/>
                <a:cs typeface="Aptos"/>
              </a:rPr>
              <a:t>Source: README.md accessibility section, backend/app/services/gemini_service.py, backend/app/routers/image_analysis.py</a:t>
            </a:r>
          </a:p>
        </p:txBody>
      </p:sp>
      <p:sp>
        <p:nvSpPr>
          <p:cNvPr id="41" name="Rectangle 40">
            <a:extLst>
              <a:ext uri="{FF2B5EF4-FFF2-40B4-BE49-F238E27FC236}">
                <a16:creationId xmlns:a16="http://schemas.microsoft.com/office/drawing/2014/main" id="{BB557698-F09A-47F3-AC2B-91DEB03E262B}"/>
              </a:ext>
            </a:extLst>
          </p:cNvPr>
          <p:cNvSpPr>
            <a:spLocks noGrp="1"/>
          </p:cNvSpPr>
          <p:nvPr/>
        </p:nvSpPr>
        <p:spPr>
          <a:xfrm>
            <a:off x="11125200" y="6543675"/>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9FB3C8"/>
                </a:solidFill>
                <a:latin typeface="Aptos Display"/>
                <a:ea typeface="Aptos Display"/>
                <a:cs typeface="Aptos Display"/>
              </a:defRPr>
            </a:pPr>
            <a:r>
              <a:rPr sz="825" b="1">
                <a:solidFill>
                  <a:srgbClr val="9FB3C8"/>
                </a:solidFill>
                <a:latin typeface="Aptos Display"/>
                <a:ea typeface="Aptos Display"/>
                <a:cs typeface="Aptos Display"/>
              </a:rPr>
              <a:t>04</a:t>
            </a:r>
          </a:p>
        </p:txBody>
      </p:sp>
    </p:spTree>
    <p:extLst>
      <p:ext uri="{BB962C8B-B14F-4D97-AF65-F5344CB8AC3E}">
        <p14:creationId xmlns:p14="http://schemas.microsoft.com/office/powerpoint/2010/main" val="1651799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3A67AD90-7F68-4E2A-8CAB-29BAFEB46FBB}"/>
              </a:ext>
            </a:extLst>
          </p:cNvPr>
          <p:cNvSpPr>
            <a:spLocks noGrp="1"/>
          </p:cNvSpPr>
          <p:nvPr/>
        </p:nvSpPr>
        <p:spPr>
          <a:xfrm>
            <a:off x="0" y="0"/>
            <a:ext cx="12192000" cy="6858000"/>
          </a:xfrm>
          <a:prstGeom prst="rect">
            <a:avLst/>
          </a:prstGeom>
          <a:solidFill>
            <a:srgbClr val="07111F"/>
          </a:solidFill>
          <a:ln w="0">
            <a:solidFill>
              <a:srgbClr val="000000">
                <a:alpha val="0"/>
              </a:srgbClr>
            </a:solidFill>
            <a:prstDash val="solid"/>
          </a:ln>
        </p:spPr>
      </p:sp>
      <p:sp>
        <p:nvSpPr>
          <p:cNvPr id="2" name="Rectangle 1">
            <a:extLst>
              <a:ext uri="{FF2B5EF4-FFF2-40B4-BE49-F238E27FC236}">
                <a16:creationId xmlns:a16="http://schemas.microsoft.com/office/drawing/2014/main" id="{F918BA92-E15B-419E-8773-42C282C47808}"/>
              </a:ext>
            </a:extLst>
          </p:cNvPr>
          <p:cNvSpPr>
            <a:spLocks noGrp="1"/>
          </p:cNvSpPr>
          <p:nvPr/>
        </p:nvSpPr>
        <p:spPr>
          <a:xfrm>
            <a:off x="0" y="0"/>
            <a:ext cx="12192000" cy="1790700"/>
          </a:xfrm>
          <a:prstGeom prst="rect">
            <a:avLst/>
          </a:prstGeom>
          <a:solidFill>
            <a:srgbClr val="0A1730"/>
          </a:solidFill>
          <a:ln w="0">
            <a:solidFill>
              <a:srgbClr val="000000">
                <a:alpha val="0"/>
              </a:srgbClr>
            </a:solidFill>
            <a:prstDash val="solid"/>
          </a:ln>
        </p:spPr>
      </p:sp>
      <p:sp>
        <p:nvSpPr>
          <p:cNvPr id="3" name="Rectangle 2">
            <a:extLst>
              <a:ext uri="{FF2B5EF4-FFF2-40B4-BE49-F238E27FC236}">
                <a16:creationId xmlns:a16="http://schemas.microsoft.com/office/drawing/2014/main" id="{CA6ACDBD-3590-46BA-A3CA-2349E7074278}"/>
              </a:ext>
            </a:extLst>
          </p:cNvPr>
          <p:cNvSpPr>
            <a:spLocks noGrp="1"/>
          </p:cNvSpPr>
          <p:nvPr/>
        </p:nvSpPr>
        <p:spPr>
          <a:xfrm>
            <a:off x="9144000" y="0"/>
            <a:ext cx="3048000" cy="6858000"/>
          </a:xfrm>
          <a:prstGeom prst="rect">
            <a:avLst/>
          </a:prstGeom>
          <a:solidFill>
            <a:srgbClr val="081523"/>
          </a:solidFill>
          <a:ln w="0">
            <a:solidFill>
              <a:srgbClr val="000000">
                <a:alpha val="0"/>
              </a:srgbClr>
            </a:solidFill>
            <a:prstDash val="solid"/>
          </a:ln>
        </p:spPr>
      </p:sp>
      <p:sp>
        <p:nvSpPr>
          <p:cNvPr id="4" name="Rectangle 3">
            <a:extLst>
              <a:ext uri="{FF2B5EF4-FFF2-40B4-BE49-F238E27FC236}">
                <a16:creationId xmlns:a16="http://schemas.microsoft.com/office/drawing/2014/main" id="{2CB001FA-CBF5-4C6D-A3A9-A593235842A3}"/>
              </a:ext>
            </a:extLst>
          </p:cNvPr>
          <p:cNvSpPr>
            <a:spLocks noGrp="1"/>
          </p:cNvSpPr>
          <p:nvPr/>
        </p:nvSpPr>
        <p:spPr>
          <a:xfrm>
            <a:off x="609600" y="457200"/>
            <a:ext cx="95250" cy="95250"/>
          </a:xfrm>
          <a:prstGeom prst="rect">
            <a:avLst/>
          </a:prstGeom>
          <a:solidFill>
            <a:srgbClr val="30D5C8"/>
          </a:solidFill>
          <a:ln w="0">
            <a:solidFill>
              <a:srgbClr val="000000">
                <a:alpha val="0"/>
              </a:srgbClr>
            </a:solidFill>
            <a:prstDash val="solid"/>
          </a:ln>
        </p:spPr>
      </p:sp>
      <p:sp>
        <p:nvSpPr>
          <p:cNvPr id="5" name="Rectangle 4">
            <a:extLst>
              <a:ext uri="{FF2B5EF4-FFF2-40B4-BE49-F238E27FC236}">
                <a16:creationId xmlns:a16="http://schemas.microsoft.com/office/drawing/2014/main" id="{C1DF1E81-46EA-4A48-A222-96276DE1441A}"/>
              </a:ext>
            </a:extLst>
          </p:cNvPr>
          <p:cNvSpPr>
            <a:spLocks noGrp="1"/>
          </p:cNvSpPr>
          <p:nvPr/>
        </p:nvSpPr>
        <p:spPr>
          <a:xfrm>
            <a:off x="800100" y="409575"/>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9FB3C8"/>
                </a:solidFill>
                <a:latin typeface="Aptos"/>
                <a:ea typeface="Aptos"/>
                <a:cs typeface="Aptos"/>
              </a:defRPr>
            </a:pPr>
            <a:r>
              <a:rPr sz="750" b="1">
                <a:solidFill>
                  <a:srgbClr val="9FB3C8"/>
                </a:solidFill>
                <a:latin typeface="Aptos"/>
                <a:ea typeface="Aptos"/>
                <a:cs typeface="Aptos"/>
              </a:rPr>
              <a:t>ARCHITECTURE</a:t>
            </a:r>
          </a:p>
        </p:txBody>
      </p:sp>
      <p:sp>
        <p:nvSpPr>
          <p:cNvPr id="6" name="Rectangle 5">
            <a:extLst>
              <a:ext uri="{FF2B5EF4-FFF2-40B4-BE49-F238E27FC236}">
                <a16:creationId xmlns:a16="http://schemas.microsoft.com/office/drawing/2014/main" id="{2F20FB73-84B0-4614-839A-D5E244C964E6}"/>
              </a:ext>
            </a:extLst>
          </p:cNvPr>
          <p:cNvSpPr>
            <a:spLocks noGrp="1"/>
          </p:cNvSpPr>
          <p:nvPr/>
        </p:nvSpPr>
        <p:spPr>
          <a:xfrm>
            <a:off x="609600" y="742950"/>
            <a:ext cx="7239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FFFFF"/>
                </a:solidFill>
                <a:latin typeface="Aptos Display"/>
                <a:ea typeface="Aptos Display"/>
                <a:cs typeface="Aptos Display"/>
              </a:defRPr>
            </a:pPr>
            <a:r>
              <a:rPr sz="2475" b="1">
                <a:solidFill>
                  <a:srgbClr val="FFFFFF"/>
                </a:solidFill>
                <a:latin typeface="Aptos Display"/>
                <a:ea typeface="Aptos Display"/>
                <a:cs typeface="Aptos Display"/>
              </a:rPr>
              <a:t>Under the hood, SightSync is a compact multimodal pipeline with clear handoffs between UI, API, model, and speech.</a:t>
            </a:r>
          </a:p>
        </p:txBody>
      </p:sp>
      <p:sp>
        <p:nvSpPr>
          <p:cNvPr id="7" name="Rectangle 6">
            <a:extLst>
              <a:ext uri="{FF2B5EF4-FFF2-40B4-BE49-F238E27FC236}">
                <a16:creationId xmlns:a16="http://schemas.microsoft.com/office/drawing/2014/main" id="{33C2F977-0985-4B2D-99AD-30487E0D7CDD}"/>
              </a:ext>
            </a:extLst>
          </p:cNvPr>
          <p:cNvSpPr>
            <a:spLocks noGrp="1"/>
          </p:cNvSpPr>
          <p:nvPr/>
        </p:nvSpPr>
        <p:spPr>
          <a:xfrm>
            <a:off x="609600" y="1752600"/>
            <a:ext cx="590550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0">
                <a:solidFill>
                  <a:srgbClr val="9FB3C8"/>
                </a:solidFill>
                <a:latin typeface="Aptos"/>
                <a:ea typeface="Aptos"/>
                <a:cs typeface="Aptos"/>
              </a:defRPr>
            </a:pPr>
            <a:r>
              <a:rPr sz="1163" b="0">
                <a:solidFill>
                  <a:srgbClr val="9FB3C8"/>
                </a:solidFill>
                <a:latin typeface="Aptos"/>
                <a:ea typeface="Aptos"/>
                <a:cs typeface="Aptos"/>
              </a:rPr>
              <a:t>The system is small enough to understand end to end: the client owns capture and interaction, the API owns validation and response shaping, OpenRouter handles image reasoning, and speech can come from Camb AI or the browser fallback.</a:t>
            </a:r>
          </a:p>
        </p:txBody>
      </p:sp>
      <p:sp>
        <p:nvSpPr>
          <p:cNvPr id="8" name="Rectangle 7">
            <a:extLst>
              <a:ext uri="{FF2B5EF4-FFF2-40B4-BE49-F238E27FC236}">
                <a16:creationId xmlns:a16="http://schemas.microsoft.com/office/drawing/2014/main" id="{635A6E4F-DCD4-4CB6-978A-7F64804AEB2B}"/>
              </a:ext>
            </a:extLst>
          </p:cNvPr>
          <p:cNvSpPr>
            <a:spLocks noGrp="1"/>
          </p:cNvSpPr>
          <p:nvPr/>
        </p:nvSpPr>
        <p:spPr>
          <a:xfrm>
            <a:off x="666750" y="3124200"/>
            <a:ext cx="1657350" cy="1028700"/>
          </a:xfrm>
          <a:prstGeom prst="rect">
            <a:avLst/>
          </a:prstGeom>
          <a:solidFill>
            <a:srgbClr val="122B45"/>
          </a:solidFill>
          <a:ln w="9525">
            <a:solidFill>
              <a:srgbClr val="294562"/>
            </a:solidFill>
            <a:prstDash val="solid"/>
          </a:ln>
        </p:spPr>
      </p:sp>
      <p:sp>
        <p:nvSpPr>
          <p:cNvPr id="9" name="Rectangle 8">
            <a:extLst>
              <a:ext uri="{FF2B5EF4-FFF2-40B4-BE49-F238E27FC236}">
                <a16:creationId xmlns:a16="http://schemas.microsoft.com/office/drawing/2014/main" id="{D9F3DBBB-745A-4BF4-A012-C01F620C79C6}"/>
              </a:ext>
            </a:extLst>
          </p:cNvPr>
          <p:cNvSpPr>
            <a:spLocks noGrp="1"/>
          </p:cNvSpPr>
          <p:nvPr/>
        </p:nvSpPr>
        <p:spPr>
          <a:xfrm>
            <a:off x="800100" y="3238500"/>
            <a:ext cx="13906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FFFFFF"/>
                </a:solidFill>
                <a:latin typeface="Aptos"/>
                <a:ea typeface="Aptos"/>
                <a:cs typeface="Aptos"/>
              </a:defRPr>
            </a:pPr>
            <a:r>
              <a:rPr sz="1050" b="1">
                <a:solidFill>
                  <a:srgbClr val="FFFFFF"/>
                </a:solidFill>
                <a:latin typeface="Aptos"/>
                <a:ea typeface="Aptos"/>
                <a:cs typeface="Aptos"/>
              </a:rPr>
              <a:t>Frontend</a:t>
            </a:r>
          </a:p>
        </p:txBody>
      </p:sp>
      <p:sp>
        <p:nvSpPr>
          <p:cNvPr id="10" name="Rectangle 9">
            <a:extLst>
              <a:ext uri="{FF2B5EF4-FFF2-40B4-BE49-F238E27FC236}">
                <a16:creationId xmlns:a16="http://schemas.microsoft.com/office/drawing/2014/main" id="{C33B1982-7CE1-47EE-AA7A-E82ED7CE7879}"/>
              </a:ext>
            </a:extLst>
          </p:cNvPr>
          <p:cNvSpPr>
            <a:spLocks noGrp="1"/>
          </p:cNvSpPr>
          <p:nvPr/>
        </p:nvSpPr>
        <p:spPr>
          <a:xfrm>
            <a:off x="819150" y="3486150"/>
            <a:ext cx="135255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9FB3C8"/>
                </a:solidFill>
                <a:latin typeface="Aptos"/>
                <a:ea typeface="Aptos"/>
                <a:cs typeface="Aptos"/>
              </a:defRPr>
            </a:pPr>
            <a:r>
              <a:rPr sz="788" b="0">
                <a:solidFill>
                  <a:srgbClr val="9FB3C8"/>
                </a:solidFill>
                <a:latin typeface="Aptos"/>
                <a:ea typeface="Aptos"/>
                <a:cs typeface="Aptos"/>
              </a:rPr>
              <a:t>React + TypeScript</a:t>
            </a:r>
          </a:p>
          <a:p>
            <a:pPr algn="ctr">
              <a:defRPr sz="788" b="0">
                <a:solidFill>
                  <a:srgbClr val="9FB3C8"/>
                </a:solidFill>
                <a:latin typeface="Aptos"/>
                <a:ea typeface="Aptos"/>
                <a:cs typeface="Aptos"/>
              </a:defRPr>
            </a:pPr>
            <a:r>
              <a:rPr sz="788" b="0">
                <a:solidFill>
                  <a:srgbClr val="9FB3C8"/>
                </a:solidFill>
                <a:latin typeface="Aptos"/>
                <a:ea typeface="Aptos"/>
                <a:cs typeface="Aptos"/>
              </a:rPr>
              <a:t>webcam, voice control,</a:t>
            </a:r>
          </a:p>
          <a:p>
            <a:pPr algn="ctr">
              <a:defRPr sz="788" b="0">
                <a:solidFill>
                  <a:srgbClr val="9FB3C8"/>
                </a:solidFill>
                <a:latin typeface="Aptos"/>
                <a:ea typeface="Aptos"/>
                <a:cs typeface="Aptos"/>
              </a:defRPr>
            </a:pPr>
            <a:r>
              <a:rPr sz="788" b="0">
                <a:solidFill>
                  <a:srgbClr val="9FB3C8"/>
                </a:solidFill>
                <a:latin typeface="Aptos"/>
                <a:ea typeface="Aptos"/>
                <a:cs typeface="Aptos"/>
              </a:rPr>
              <a:t>chat panel, TTS</a:t>
            </a:r>
          </a:p>
        </p:txBody>
      </p:sp>
      <p:sp>
        <p:nvSpPr>
          <p:cNvPr id="11" name="Rectangle 10">
            <a:extLst>
              <a:ext uri="{FF2B5EF4-FFF2-40B4-BE49-F238E27FC236}">
                <a16:creationId xmlns:a16="http://schemas.microsoft.com/office/drawing/2014/main" id="{336477B7-0C62-474B-AB45-D77B48A6F440}"/>
              </a:ext>
            </a:extLst>
          </p:cNvPr>
          <p:cNvSpPr>
            <a:spLocks noGrp="1"/>
          </p:cNvSpPr>
          <p:nvPr/>
        </p:nvSpPr>
        <p:spPr>
          <a:xfrm>
            <a:off x="2400300" y="3638550"/>
            <a:ext cx="457200" cy="19050"/>
          </a:xfrm>
          <a:prstGeom prst="rect">
            <a:avLst/>
          </a:prstGeom>
          <a:solidFill>
            <a:srgbClr val="4DA3FF"/>
          </a:solidFill>
          <a:ln w="0">
            <a:solidFill>
              <a:srgbClr val="000000">
                <a:alpha val="0"/>
              </a:srgbClr>
            </a:solidFill>
            <a:prstDash val="solid"/>
          </a:ln>
        </p:spPr>
      </p:sp>
      <p:sp>
        <p:nvSpPr>
          <p:cNvPr id="12" name="Rectangle 11">
            <a:extLst>
              <a:ext uri="{FF2B5EF4-FFF2-40B4-BE49-F238E27FC236}">
                <a16:creationId xmlns:a16="http://schemas.microsoft.com/office/drawing/2014/main" id="{A9AFB108-833C-40CB-96EE-DBC22BDD0BF1}"/>
              </a:ext>
            </a:extLst>
          </p:cNvPr>
          <p:cNvSpPr>
            <a:spLocks noGrp="1"/>
          </p:cNvSpPr>
          <p:nvPr/>
        </p:nvSpPr>
        <p:spPr>
          <a:xfrm>
            <a:off x="2781300" y="3600450"/>
            <a:ext cx="76200" cy="76200"/>
          </a:xfrm>
          <a:prstGeom prst="rect">
            <a:avLst/>
          </a:prstGeom>
          <a:solidFill>
            <a:srgbClr val="4DA3FF"/>
          </a:solidFill>
          <a:ln w="0">
            <a:solidFill>
              <a:srgbClr val="000000">
                <a:alpha val="0"/>
              </a:srgbClr>
            </a:solidFill>
            <a:prstDash val="solid"/>
          </a:ln>
        </p:spPr>
      </p:sp>
      <p:sp>
        <p:nvSpPr>
          <p:cNvPr id="13" name="Rectangle 12">
            <a:extLst>
              <a:ext uri="{FF2B5EF4-FFF2-40B4-BE49-F238E27FC236}">
                <a16:creationId xmlns:a16="http://schemas.microsoft.com/office/drawing/2014/main" id="{1283E629-BF56-4F80-B87E-93281D0B54D3}"/>
              </a:ext>
            </a:extLst>
          </p:cNvPr>
          <p:cNvSpPr>
            <a:spLocks noGrp="1"/>
          </p:cNvSpPr>
          <p:nvPr/>
        </p:nvSpPr>
        <p:spPr>
          <a:xfrm>
            <a:off x="2895600" y="3124200"/>
            <a:ext cx="1657350" cy="1028700"/>
          </a:xfrm>
          <a:prstGeom prst="rect">
            <a:avLst/>
          </a:prstGeom>
          <a:solidFill>
            <a:srgbClr val="122B45"/>
          </a:solidFill>
          <a:ln w="9525">
            <a:solidFill>
              <a:srgbClr val="294562"/>
            </a:solidFill>
            <a:prstDash val="solid"/>
          </a:ln>
        </p:spPr>
      </p:sp>
      <p:sp>
        <p:nvSpPr>
          <p:cNvPr id="14" name="Rectangle 13">
            <a:extLst>
              <a:ext uri="{FF2B5EF4-FFF2-40B4-BE49-F238E27FC236}">
                <a16:creationId xmlns:a16="http://schemas.microsoft.com/office/drawing/2014/main" id="{FF054F9D-6F85-4312-BCE1-7F0F8E02399C}"/>
              </a:ext>
            </a:extLst>
          </p:cNvPr>
          <p:cNvSpPr>
            <a:spLocks noGrp="1"/>
          </p:cNvSpPr>
          <p:nvPr/>
        </p:nvSpPr>
        <p:spPr>
          <a:xfrm>
            <a:off x="3028950" y="3238500"/>
            <a:ext cx="13906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FFFFFF"/>
                </a:solidFill>
                <a:latin typeface="Aptos"/>
                <a:ea typeface="Aptos"/>
                <a:cs typeface="Aptos"/>
              </a:defRPr>
            </a:pPr>
            <a:r>
              <a:rPr sz="1050" b="1">
                <a:solidFill>
                  <a:srgbClr val="FFFFFF"/>
                </a:solidFill>
                <a:latin typeface="Aptos"/>
                <a:ea typeface="Aptos"/>
                <a:cs typeface="Aptos"/>
              </a:rPr>
              <a:t>FastAPI</a:t>
            </a:r>
          </a:p>
        </p:txBody>
      </p:sp>
      <p:sp>
        <p:nvSpPr>
          <p:cNvPr id="15" name="Rectangle 14">
            <a:extLst>
              <a:ext uri="{FF2B5EF4-FFF2-40B4-BE49-F238E27FC236}">
                <a16:creationId xmlns:a16="http://schemas.microsoft.com/office/drawing/2014/main" id="{99C6A338-8122-4004-B656-44DF1EB07ABE}"/>
              </a:ext>
            </a:extLst>
          </p:cNvPr>
          <p:cNvSpPr>
            <a:spLocks noGrp="1"/>
          </p:cNvSpPr>
          <p:nvPr/>
        </p:nvSpPr>
        <p:spPr>
          <a:xfrm>
            <a:off x="3048000" y="3486150"/>
            <a:ext cx="135255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9FB3C8"/>
                </a:solidFill>
                <a:latin typeface="Aptos"/>
                <a:ea typeface="Aptos"/>
                <a:cs typeface="Aptos"/>
              </a:defRPr>
            </a:pPr>
            <a:r>
              <a:rPr sz="788" b="0">
                <a:solidFill>
                  <a:srgbClr val="9FB3C8"/>
                </a:solidFill>
                <a:latin typeface="Aptos"/>
                <a:ea typeface="Aptos"/>
                <a:cs typeface="Aptos"/>
              </a:rPr>
              <a:t>upload validation,</a:t>
            </a:r>
          </a:p>
          <a:p>
            <a:pPr algn="ctr">
              <a:defRPr sz="788" b="0">
                <a:solidFill>
                  <a:srgbClr val="9FB3C8"/>
                </a:solidFill>
                <a:latin typeface="Aptos"/>
                <a:ea typeface="Aptos"/>
                <a:cs typeface="Aptos"/>
              </a:defRPr>
            </a:pPr>
            <a:r>
              <a:rPr sz="788" b="0">
                <a:solidFill>
                  <a:srgbClr val="9FB3C8"/>
                </a:solidFill>
                <a:latin typeface="Aptos"/>
                <a:ea typeface="Aptos"/>
                <a:cs typeface="Aptos"/>
              </a:rPr>
              <a:t>confidence heuristic,</a:t>
            </a:r>
          </a:p>
          <a:p>
            <a:pPr algn="ctr">
              <a:defRPr sz="788" b="0">
                <a:solidFill>
                  <a:srgbClr val="9FB3C8"/>
                </a:solidFill>
                <a:latin typeface="Aptos"/>
                <a:ea typeface="Aptos"/>
                <a:cs typeface="Aptos"/>
              </a:defRPr>
            </a:pPr>
            <a:r>
              <a:rPr sz="788" b="0">
                <a:solidFill>
                  <a:srgbClr val="9FB3C8"/>
                </a:solidFill>
                <a:latin typeface="Aptos"/>
                <a:ea typeface="Aptos"/>
                <a:cs typeface="Aptos"/>
              </a:rPr>
              <a:t>structured response</a:t>
            </a:r>
          </a:p>
        </p:txBody>
      </p:sp>
      <p:sp>
        <p:nvSpPr>
          <p:cNvPr id="16" name="Rectangle 15">
            <a:extLst>
              <a:ext uri="{FF2B5EF4-FFF2-40B4-BE49-F238E27FC236}">
                <a16:creationId xmlns:a16="http://schemas.microsoft.com/office/drawing/2014/main" id="{929144B3-86F3-424E-97B2-0B165EFFE100}"/>
              </a:ext>
            </a:extLst>
          </p:cNvPr>
          <p:cNvSpPr>
            <a:spLocks noGrp="1"/>
          </p:cNvSpPr>
          <p:nvPr/>
        </p:nvSpPr>
        <p:spPr>
          <a:xfrm>
            <a:off x="4629150" y="3638550"/>
            <a:ext cx="457200" cy="19050"/>
          </a:xfrm>
          <a:prstGeom prst="rect">
            <a:avLst/>
          </a:prstGeom>
          <a:solidFill>
            <a:srgbClr val="4DA3FF"/>
          </a:solidFill>
          <a:ln w="0">
            <a:solidFill>
              <a:srgbClr val="000000">
                <a:alpha val="0"/>
              </a:srgbClr>
            </a:solidFill>
            <a:prstDash val="solid"/>
          </a:ln>
        </p:spPr>
      </p:sp>
      <p:sp>
        <p:nvSpPr>
          <p:cNvPr id="17" name="Rectangle 16">
            <a:extLst>
              <a:ext uri="{FF2B5EF4-FFF2-40B4-BE49-F238E27FC236}">
                <a16:creationId xmlns:a16="http://schemas.microsoft.com/office/drawing/2014/main" id="{CA8EBE48-D12C-479E-ACDC-CD47E465591A}"/>
              </a:ext>
            </a:extLst>
          </p:cNvPr>
          <p:cNvSpPr>
            <a:spLocks noGrp="1"/>
          </p:cNvSpPr>
          <p:nvPr/>
        </p:nvSpPr>
        <p:spPr>
          <a:xfrm>
            <a:off x="5010150" y="3600450"/>
            <a:ext cx="76200" cy="76200"/>
          </a:xfrm>
          <a:prstGeom prst="rect">
            <a:avLst/>
          </a:prstGeom>
          <a:solidFill>
            <a:srgbClr val="4DA3FF"/>
          </a:solidFill>
          <a:ln w="0">
            <a:solidFill>
              <a:srgbClr val="000000">
                <a:alpha val="0"/>
              </a:srgbClr>
            </a:solidFill>
            <a:prstDash val="solid"/>
          </a:ln>
        </p:spPr>
      </p:sp>
      <p:sp>
        <p:nvSpPr>
          <p:cNvPr id="18" name="Rectangle 17">
            <a:extLst>
              <a:ext uri="{FF2B5EF4-FFF2-40B4-BE49-F238E27FC236}">
                <a16:creationId xmlns:a16="http://schemas.microsoft.com/office/drawing/2014/main" id="{0931D089-CA36-41C2-B362-A17E051D1403}"/>
              </a:ext>
            </a:extLst>
          </p:cNvPr>
          <p:cNvSpPr>
            <a:spLocks noGrp="1"/>
          </p:cNvSpPr>
          <p:nvPr/>
        </p:nvSpPr>
        <p:spPr>
          <a:xfrm>
            <a:off x="5124450" y="3124200"/>
            <a:ext cx="1905000" cy="1028700"/>
          </a:xfrm>
          <a:prstGeom prst="rect">
            <a:avLst/>
          </a:prstGeom>
          <a:solidFill>
            <a:srgbClr val="122B45"/>
          </a:solidFill>
          <a:ln w="9525">
            <a:solidFill>
              <a:srgbClr val="294562"/>
            </a:solidFill>
            <a:prstDash val="solid"/>
          </a:ln>
        </p:spPr>
      </p:sp>
      <p:sp>
        <p:nvSpPr>
          <p:cNvPr id="19" name="Rectangle 18">
            <a:extLst>
              <a:ext uri="{FF2B5EF4-FFF2-40B4-BE49-F238E27FC236}">
                <a16:creationId xmlns:a16="http://schemas.microsoft.com/office/drawing/2014/main" id="{ACE2B9B4-9122-4BE9-9D9F-EC6C0F7119B8}"/>
              </a:ext>
            </a:extLst>
          </p:cNvPr>
          <p:cNvSpPr>
            <a:spLocks noGrp="1"/>
          </p:cNvSpPr>
          <p:nvPr/>
        </p:nvSpPr>
        <p:spPr>
          <a:xfrm>
            <a:off x="5257800" y="3238500"/>
            <a:ext cx="16383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FFFFFF"/>
                </a:solidFill>
                <a:latin typeface="Aptos"/>
                <a:ea typeface="Aptos"/>
                <a:cs typeface="Aptos"/>
              </a:defRPr>
            </a:pPr>
            <a:r>
              <a:rPr sz="1050" b="1">
                <a:solidFill>
                  <a:srgbClr val="FFFFFF"/>
                </a:solidFill>
                <a:latin typeface="Aptos"/>
                <a:ea typeface="Aptos"/>
                <a:cs typeface="Aptos"/>
              </a:rPr>
              <a:t>OpenRouter</a:t>
            </a:r>
          </a:p>
        </p:txBody>
      </p:sp>
      <p:sp>
        <p:nvSpPr>
          <p:cNvPr id="20" name="Rectangle 19">
            <a:extLst>
              <a:ext uri="{FF2B5EF4-FFF2-40B4-BE49-F238E27FC236}">
                <a16:creationId xmlns:a16="http://schemas.microsoft.com/office/drawing/2014/main" id="{20F9B9E6-2C86-4887-8811-72E71CE5C3A0}"/>
              </a:ext>
            </a:extLst>
          </p:cNvPr>
          <p:cNvSpPr>
            <a:spLocks noGrp="1"/>
          </p:cNvSpPr>
          <p:nvPr/>
        </p:nvSpPr>
        <p:spPr>
          <a:xfrm>
            <a:off x="5276850" y="3486150"/>
            <a:ext cx="16002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9FB3C8"/>
                </a:solidFill>
                <a:latin typeface="Aptos"/>
                <a:ea typeface="Aptos"/>
                <a:cs typeface="Aptos"/>
              </a:defRPr>
            </a:pPr>
            <a:r>
              <a:rPr sz="788" b="0">
                <a:solidFill>
                  <a:srgbClr val="9FB3C8"/>
                </a:solidFill>
                <a:latin typeface="Aptos"/>
                <a:ea typeface="Aptos"/>
                <a:cs typeface="Aptos"/>
              </a:rPr>
              <a:t>Gemma multimodal</a:t>
            </a:r>
          </a:p>
          <a:p>
            <a:pPr algn="ctr">
              <a:defRPr sz="788" b="0">
                <a:solidFill>
                  <a:srgbClr val="9FB3C8"/>
                </a:solidFill>
                <a:latin typeface="Aptos"/>
                <a:ea typeface="Aptos"/>
                <a:cs typeface="Aptos"/>
              </a:defRPr>
            </a:pPr>
            <a:r>
              <a:rPr sz="788" b="0">
                <a:solidFill>
                  <a:srgbClr val="9FB3C8"/>
                </a:solidFill>
                <a:latin typeface="Aptos"/>
                <a:ea typeface="Aptos"/>
                <a:cs typeface="Aptos"/>
              </a:rPr>
              <a:t>scene analysis and</a:t>
            </a:r>
          </a:p>
          <a:p>
            <a:pPr algn="ctr">
              <a:defRPr sz="788" b="0">
                <a:solidFill>
                  <a:srgbClr val="9FB3C8"/>
                </a:solidFill>
                <a:latin typeface="Aptos"/>
                <a:ea typeface="Aptos"/>
                <a:cs typeface="Aptos"/>
              </a:defRPr>
            </a:pPr>
            <a:r>
              <a:rPr sz="788" b="0">
                <a:solidFill>
                  <a:srgbClr val="9FB3C8"/>
                </a:solidFill>
                <a:latin typeface="Aptos"/>
                <a:ea typeface="Aptos"/>
                <a:cs typeface="Aptos"/>
              </a:rPr>
              <a:t>scene Q&amp;A</a:t>
            </a:r>
          </a:p>
        </p:txBody>
      </p:sp>
      <p:sp>
        <p:nvSpPr>
          <p:cNvPr id="21" name="Rectangle 20">
            <a:extLst>
              <a:ext uri="{FF2B5EF4-FFF2-40B4-BE49-F238E27FC236}">
                <a16:creationId xmlns:a16="http://schemas.microsoft.com/office/drawing/2014/main" id="{211041C4-C8E6-4A64-92BE-2A6BA7A608F7}"/>
              </a:ext>
            </a:extLst>
          </p:cNvPr>
          <p:cNvSpPr>
            <a:spLocks noGrp="1"/>
          </p:cNvSpPr>
          <p:nvPr/>
        </p:nvSpPr>
        <p:spPr>
          <a:xfrm>
            <a:off x="7105650" y="3638550"/>
            <a:ext cx="457200" cy="19050"/>
          </a:xfrm>
          <a:prstGeom prst="rect">
            <a:avLst/>
          </a:prstGeom>
          <a:solidFill>
            <a:srgbClr val="30D5C8"/>
          </a:solidFill>
          <a:ln w="0">
            <a:solidFill>
              <a:srgbClr val="000000">
                <a:alpha val="0"/>
              </a:srgbClr>
            </a:solidFill>
            <a:prstDash val="solid"/>
          </a:ln>
        </p:spPr>
      </p:sp>
      <p:sp>
        <p:nvSpPr>
          <p:cNvPr id="22" name="Rectangle 21">
            <a:extLst>
              <a:ext uri="{FF2B5EF4-FFF2-40B4-BE49-F238E27FC236}">
                <a16:creationId xmlns:a16="http://schemas.microsoft.com/office/drawing/2014/main" id="{34F700BA-CED6-4705-B87C-A62D8355E4E1}"/>
              </a:ext>
            </a:extLst>
          </p:cNvPr>
          <p:cNvSpPr>
            <a:spLocks noGrp="1"/>
          </p:cNvSpPr>
          <p:nvPr/>
        </p:nvSpPr>
        <p:spPr>
          <a:xfrm>
            <a:off x="7486650" y="3600450"/>
            <a:ext cx="76200" cy="76200"/>
          </a:xfrm>
          <a:prstGeom prst="rect">
            <a:avLst/>
          </a:prstGeom>
          <a:solidFill>
            <a:srgbClr val="30D5C8"/>
          </a:solidFill>
          <a:ln w="0">
            <a:solidFill>
              <a:srgbClr val="000000">
                <a:alpha val="0"/>
              </a:srgbClr>
            </a:solidFill>
            <a:prstDash val="solid"/>
          </a:ln>
        </p:spPr>
      </p:sp>
      <p:sp>
        <p:nvSpPr>
          <p:cNvPr id="23" name="Rectangle 22">
            <a:extLst>
              <a:ext uri="{FF2B5EF4-FFF2-40B4-BE49-F238E27FC236}">
                <a16:creationId xmlns:a16="http://schemas.microsoft.com/office/drawing/2014/main" id="{15E4DA1B-8658-4DD8-9B08-8C6E0951324F}"/>
              </a:ext>
            </a:extLst>
          </p:cNvPr>
          <p:cNvSpPr>
            <a:spLocks noGrp="1"/>
          </p:cNvSpPr>
          <p:nvPr/>
        </p:nvSpPr>
        <p:spPr>
          <a:xfrm>
            <a:off x="7600950" y="3124200"/>
            <a:ext cx="1543050" cy="1028700"/>
          </a:xfrm>
          <a:prstGeom prst="rect">
            <a:avLst/>
          </a:prstGeom>
          <a:solidFill>
            <a:srgbClr val="122B45"/>
          </a:solidFill>
          <a:ln w="9525">
            <a:solidFill>
              <a:srgbClr val="294562"/>
            </a:solidFill>
            <a:prstDash val="solid"/>
          </a:ln>
        </p:spPr>
      </p:sp>
      <p:sp>
        <p:nvSpPr>
          <p:cNvPr id="24" name="Rectangle 23">
            <a:extLst>
              <a:ext uri="{FF2B5EF4-FFF2-40B4-BE49-F238E27FC236}">
                <a16:creationId xmlns:a16="http://schemas.microsoft.com/office/drawing/2014/main" id="{B9223EEC-66B5-49D5-A77F-3F9B7265934D}"/>
              </a:ext>
            </a:extLst>
          </p:cNvPr>
          <p:cNvSpPr>
            <a:spLocks noGrp="1"/>
          </p:cNvSpPr>
          <p:nvPr/>
        </p:nvSpPr>
        <p:spPr>
          <a:xfrm>
            <a:off x="7734300" y="3238500"/>
            <a:ext cx="1276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FFFFFF"/>
                </a:solidFill>
                <a:latin typeface="Aptos"/>
                <a:ea typeface="Aptos"/>
                <a:cs typeface="Aptos"/>
              </a:defRPr>
            </a:pPr>
            <a:r>
              <a:rPr sz="1050" b="1">
                <a:solidFill>
                  <a:srgbClr val="FFFFFF"/>
                </a:solidFill>
                <a:latin typeface="Aptos"/>
                <a:ea typeface="Aptos"/>
                <a:cs typeface="Aptos"/>
              </a:rPr>
              <a:t>TTS</a:t>
            </a:r>
          </a:p>
        </p:txBody>
      </p:sp>
      <p:sp>
        <p:nvSpPr>
          <p:cNvPr id="25" name="Rectangle 24">
            <a:extLst>
              <a:ext uri="{FF2B5EF4-FFF2-40B4-BE49-F238E27FC236}">
                <a16:creationId xmlns:a16="http://schemas.microsoft.com/office/drawing/2014/main" id="{97318CAB-FFD6-48BD-A542-6FF60914B03B}"/>
              </a:ext>
            </a:extLst>
          </p:cNvPr>
          <p:cNvSpPr>
            <a:spLocks noGrp="1"/>
          </p:cNvSpPr>
          <p:nvPr/>
        </p:nvSpPr>
        <p:spPr>
          <a:xfrm>
            <a:off x="7753350" y="3486150"/>
            <a:ext cx="123825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9FB3C8"/>
                </a:solidFill>
                <a:latin typeface="Aptos"/>
                <a:ea typeface="Aptos"/>
                <a:cs typeface="Aptos"/>
              </a:defRPr>
            </a:pPr>
            <a:r>
              <a:rPr sz="788" b="0">
                <a:solidFill>
                  <a:srgbClr val="9FB3C8"/>
                </a:solidFill>
                <a:latin typeface="Aptos"/>
                <a:ea typeface="Aptos"/>
                <a:cs typeface="Aptos"/>
              </a:rPr>
              <a:t>Camb AI WAV</a:t>
            </a:r>
          </a:p>
          <a:p>
            <a:pPr algn="ctr">
              <a:defRPr sz="788" b="0">
                <a:solidFill>
                  <a:srgbClr val="9FB3C8"/>
                </a:solidFill>
                <a:latin typeface="Aptos"/>
                <a:ea typeface="Aptos"/>
                <a:cs typeface="Aptos"/>
              </a:defRPr>
            </a:pPr>
            <a:r>
              <a:rPr sz="788" b="0">
                <a:solidFill>
                  <a:srgbClr val="9FB3C8"/>
                </a:solidFill>
                <a:latin typeface="Aptos"/>
                <a:ea typeface="Aptos"/>
                <a:cs typeface="Aptos"/>
              </a:rPr>
              <a:t>or browser</a:t>
            </a:r>
          </a:p>
          <a:p>
            <a:pPr algn="ctr">
              <a:defRPr sz="788" b="0">
                <a:solidFill>
                  <a:srgbClr val="9FB3C8"/>
                </a:solidFill>
                <a:latin typeface="Aptos"/>
                <a:ea typeface="Aptos"/>
                <a:cs typeface="Aptos"/>
              </a:defRPr>
            </a:pPr>
            <a:r>
              <a:rPr sz="788" b="0">
                <a:solidFill>
                  <a:srgbClr val="9FB3C8"/>
                </a:solidFill>
                <a:latin typeface="Aptos"/>
                <a:ea typeface="Aptos"/>
                <a:cs typeface="Aptos"/>
              </a:rPr>
              <a:t>SpeechSynthesis</a:t>
            </a:r>
          </a:p>
        </p:txBody>
      </p:sp>
      <p:sp>
        <p:nvSpPr>
          <p:cNvPr id="26" name="Rectangle 25">
            <a:extLst>
              <a:ext uri="{FF2B5EF4-FFF2-40B4-BE49-F238E27FC236}">
                <a16:creationId xmlns:a16="http://schemas.microsoft.com/office/drawing/2014/main" id="{195B8904-17D3-4DDF-997F-1F6DEE0017C1}"/>
              </a:ext>
            </a:extLst>
          </p:cNvPr>
          <p:cNvSpPr>
            <a:spLocks noGrp="1"/>
          </p:cNvSpPr>
          <p:nvPr/>
        </p:nvSpPr>
        <p:spPr>
          <a:xfrm>
            <a:off x="9220200" y="3638550"/>
            <a:ext cx="457200" cy="19050"/>
          </a:xfrm>
          <a:prstGeom prst="rect">
            <a:avLst/>
          </a:prstGeom>
          <a:solidFill>
            <a:srgbClr val="7C6CFF"/>
          </a:solidFill>
          <a:ln w="0">
            <a:solidFill>
              <a:srgbClr val="000000">
                <a:alpha val="0"/>
              </a:srgbClr>
            </a:solidFill>
            <a:prstDash val="solid"/>
          </a:ln>
        </p:spPr>
      </p:sp>
      <p:sp>
        <p:nvSpPr>
          <p:cNvPr id="27" name="Rectangle 26">
            <a:extLst>
              <a:ext uri="{FF2B5EF4-FFF2-40B4-BE49-F238E27FC236}">
                <a16:creationId xmlns:a16="http://schemas.microsoft.com/office/drawing/2014/main" id="{85B5A992-C8A3-4635-8A0E-814AF85D8A87}"/>
              </a:ext>
            </a:extLst>
          </p:cNvPr>
          <p:cNvSpPr>
            <a:spLocks noGrp="1"/>
          </p:cNvSpPr>
          <p:nvPr/>
        </p:nvSpPr>
        <p:spPr>
          <a:xfrm>
            <a:off x="9601200" y="3600450"/>
            <a:ext cx="76200" cy="76200"/>
          </a:xfrm>
          <a:prstGeom prst="rect">
            <a:avLst/>
          </a:prstGeom>
          <a:solidFill>
            <a:srgbClr val="7C6CFF"/>
          </a:solidFill>
          <a:ln w="0">
            <a:solidFill>
              <a:srgbClr val="000000">
                <a:alpha val="0"/>
              </a:srgbClr>
            </a:solidFill>
            <a:prstDash val="solid"/>
          </a:ln>
        </p:spPr>
      </p:sp>
      <p:sp>
        <p:nvSpPr>
          <p:cNvPr id="28" name="Rectangle 27">
            <a:extLst>
              <a:ext uri="{FF2B5EF4-FFF2-40B4-BE49-F238E27FC236}">
                <a16:creationId xmlns:a16="http://schemas.microsoft.com/office/drawing/2014/main" id="{252E1391-EE00-45CA-B19A-893DE426EFD8}"/>
              </a:ext>
            </a:extLst>
          </p:cNvPr>
          <p:cNvSpPr>
            <a:spLocks noGrp="1"/>
          </p:cNvSpPr>
          <p:nvPr/>
        </p:nvSpPr>
        <p:spPr>
          <a:xfrm>
            <a:off x="9715500" y="3124200"/>
            <a:ext cx="1790700" cy="1028700"/>
          </a:xfrm>
          <a:prstGeom prst="rect">
            <a:avLst/>
          </a:prstGeom>
          <a:solidFill>
            <a:srgbClr val="122B45"/>
          </a:solidFill>
          <a:ln w="9525">
            <a:solidFill>
              <a:srgbClr val="294562"/>
            </a:solidFill>
            <a:prstDash val="solid"/>
          </a:ln>
        </p:spPr>
      </p:sp>
      <p:sp>
        <p:nvSpPr>
          <p:cNvPr id="29" name="Rectangle 28">
            <a:extLst>
              <a:ext uri="{FF2B5EF4-FFF2-40B4-BE49-F238E27FC236}">
                <a16:creationId xmlns:a16="http://schemas.microsoft.com/office/drawing/2014/main" id="{A59C8CB6-7F10-49BB-A818-0B01E82239CD}"/>
              </a:ext>
            </a:extLst>
          </p:cNvPr>
          <p:cNvSpPr>
            <a:spLocks noGrp="1"/>
          </p:cNvSpPr>
          <p:nvPr/>
        </p:nvSpPr>
        <p:spPr>
          <a:xfrm>
            <a:off x="9848850" y="3238500"/>
            <a:ext cx="1524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50" b="1">
                <a:solidFill>
                  <a:srgbClr val="FFFFFF"/>
                </a:solidFill>
                <a:latin typeface="Aptos"/>
                <a:ea typeface="Aptos"/>
                <a:cs typeface="Aptos"/>
              </a:defRPr>
            </a:pPr>
            <a:r>
              <a:rPr sz="1050" b="1">
                <a:solidFill>
                  <a:srgbClr val="FFFFFF"/>
                </a:solidFill>
                <a:latin typeface="Aptos"/>
                <a:ea typeface="Aptos"/>
                <a:cs typeface="Aptos"/>
              </a:rPr>
              <a:t>User feedback</a:t>
            </a:r>
          </a:p>
        </p:txBody>
      </p:sp>
      <p:sp>
        <p:nvSpPr>
          <p:cNvPr id="30" name="Rectangle 29">
            <a:extLst>
              <a:ext uri="{FF2B5EF4-FFF2-40B4-BE49-F238E27FC236}">
                <a16:creationId xmlns:a16="http://schemas.microsoft.com/office/drawing/2014/main" id="{12324B1F-F303-4766-83ED-6B2B9203158C}"/>
              </a:ext>
            </a:extLst>
          </p:cNvPr>
          <p:cNvSpPr>
            <a:spLocks noGrp="1"/>
          </p:cNvSpPr>
          <p:nvPr/>
        </p:nvSpPr>
        <p:spPr>
          <a:xfrm>
            <a:off x="9867900" y="3486150"/>
            <a:ext cx="14859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88" b="0">
                <a:solidFill>
                  <a:srgbClr val="9FB3C8"/>
                </a:solidFill>
                <a:latin typeface="Aptos"/>
                <a:ea typeface="Aptos"/>
                <a:cs typeface="Aptos"/>
              </a:defRPr>
            </a:pPr>
            <a:r>
              <a:rPr sz="788" b="0">
                <a:solidFill>
                  <a:srgbClr val="9FB3C8"/>
                </a:solidFill>
                <a:latin typeface="Aptos"/>
                <a:ea typeface="Aptos"/>
                <a:cs typeface="Aptos"/>
              </a:rPr>
              <a:t>description, tags,</a:t>
            </a:r>
          </a:p>
          <a:p>
            <a:pPr algn="ctr">
              <a:defRPr sz="788" b="0">
                <a:solidFill>
                  <a:srgbClr val="9FB3C8"/>
                </a:solidFill>
                <a:latin typeface="Aptos"/>
                <a:ea typeface="Aptos"/>
                <a:cs typeface="Aptos"/>
              </a:defRPr>
            </a:pPr>
            <a:r>
              <a:rPr sz="788" b="0">
                <a:solidFill>
                  <a:srgbClr val="9FB3C8"/>
                </a:solidFill>
                <a:latin typeface="Aptos"/>
                <a:ea typeface="Aptos"/>
                <a:cs typeface="Aptos"/>
              </a:rPr>
              <a:t>urgency, playback,</a:t>
            </a:r>
          </a:p>
          <a:p>
            <a:pPr algn="ctr">
              <a:defRPr sz="788" b="0">
                <a:solidFill>
                  <a:srgbClr val="9FB3C8"/>
                </a:solidFill>
                <a:latin typeface="Aptos"/>
                <a:ea typeface="Aptos"/>
                <a:cs typeface="Aptos"/>
              </a:defRPr>
            </a:pPr>
            <a:r>
              <a:rPr sz="788" b="0">
                <a:solidFill>
                  <a:srgbClr val="9FB3C8"/>
                </a:solidFill>
                <a:latin typeface="Aptos"/>
                <a:ea typeface="Aptos"/>
                <a:cs typeface="Aptos"/>
              </a:rPr>
              <a:t>follow-up answer</a:t>
            </a:r>
          </a:p>
        </p:txBody>
      </p:sp>
      <p:sp>
        <p:nvSpPr>
          <p:cNvPr id="31" name="Rectangle 30">
            <a:extLst>
              <a:ext uri="{FF2B5EF4-FFF2-40B4-BE49-F238E27FC236}">
                <a16:creationId xmlns:a16="http://schemas.microsoft.com/office/drawing/2014/main" id="{394194DF-B7EA-46D3-B077-C5F601728384}"/>
              </a:ext>
            </a:extLst>
          </p:cNvPr>
          <p:cNvSpPr>
            <a:spLocks noGrp="1"/>
          </p:cNvSpPr>
          <p:nvPr/>
        </p:nvSpPr>
        <p:spPr>
          <a:xfrm>
            <a:off x="609600" y="4762500"/>
            <a:ext cx="4953000" cy="1123950"/>
          </a:xfrm>
          <a:prstGeom prst="rect">
            <a:avLst/>
          </a:prstGeom>
          <a:solidFill>
            <a:srgbClr val="0C1B2D"/>
          </a:solidFill>
          <a:ln w="9525">
            <a:solidFill>
              <a:srgbClr val="294562"/>
            </a:solidFill>
            <a:prstDash val="solid"/>
          </a:ln>
        </p:spPr>
      </p:sp>
      <p:sp>
        <p:nvSpPr>
          <p:cNvPr id="32" name="Rectangle 31">
            <a:extLst>
              <a:ext uri="{FF2B5EF4-FFF2-40B4-BE49-F238E27FC236}">
                <a16:creationId xmlns:a16="http://schemas.microsoft.com/office/drawing/2014/main" id="{B1F2E156-79CD-4FB8-AE1A-68392ADC7422}"/>
              </a:ext>
            </a:extLst>
          </p:cNvPr>
          <p:cNvSpPr>
            <a:spLocks noGrp="1"/>
          </p:cNvSpPr>
          <p:nvPr/>
        </p:nvSpPr>
        <p:spPr>
          <a:xfrm>
            <a:off x="857250" y="4991100"/>
            <a:ext cx="2190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1">
                <a:solidFill>
                  <a:srgbClr val="FFFFFF"/>
                </a:solidFill>
                <a:latin typeface="Aptos"/>
                <a:ea typeface="Aptos"/>
                <a:cs typeface="Aptos"/>
              </a:defRPr>
            </a:pPr>
            <a:r>
              <a:rPr sz="1163" b="1">
                <a:solidFill>
                  <a:srgbClr val="FFFFFF"/>
                </a:solidFill>
                <a:latin typeface="Aptos"/>
                <a:ea typeface="Aptos"/>
                <a:cs typeface="Aptos"/>
              </a:rPr>
              <a:t>Notable implementation details</a:t>
            </a:r>
          </a:p>
        </p:txBody>
      </p:sp>
      <p:sp>
        <p:nvSpPr>
          <p:cNvPr id="33" name="Rectangle 32">
            <a:extLst>
              <a:ext uri="{FF2B5EF4-FFF2-40B4-BE49-F238E27FC236}">
                <a16:creationId xmlns:a16="http://schemas.microsoft.com/office/drawing/2014/main" id="{0B2107C6-FC84-48C8-A8C3-69BFE88F0E95}"/>
              </a:ext>
            </a:extLst>
          </p:cNvPr>
          <p:cNvSpPr>
            <a:spLocks noGrp="1"/>
          </p:cNvSpPr>
          <p:nvPr/>
        </p:nvSpPr>
        <p:spPr>
          <a:xfrm>
            <a:off x="857250" y="5257800"/>
            <a:ext cx="430530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9FB3C8"/>
                </a:solidFill>
                <a:latin typeface="Aptos"/>
                <a:ea typeface="Aptos"/>
                <a:cs typeface="Aptos"/>
              </a:defRPr>
            </a:pPr>
            <a:r>
              <a:rPr sz="938" b="0">
                <a:solidFill>
                  <a:srgbClr val="9FB3C8"/>
                </a:solidFill>
                <a:latin typeface="Aptos"/>
                <a:ea typeface="Aptos"/>
                <a:cs typeface="Aptos"/>
              </a:rPr>
              <a:t>The backend retries across fallback models when the provider is temporarily overloaded, limits image size to 10 MB, and keeps the output deliberately structured so the frontend does not have to parse free-form prose.</a:t>
            </a:r>
          </a:p>
        </p:txBody>
      </p:sp>
      <p:sp>
        <p:nvSpPr>
          <p:cNvPr id="34" name="Rectangle 33">
            <a:extLst>
              <a:ext uri="{FF2B5EF4-FFF2-40B4-BE49-F238E27FC236}">
                <a16:creationId xmlns:a16="http://schemas.microsoft.com/office/drawing/2014/main" id="{25F5D18D-0CD3-4AE9-AF69-7F539DDD3868}"/>
              </a:ext>
            </a:extLst>
          </p:cNvPr>
          <p:cNvSpPr>
            <a:spLocks noGrp="1"/>
          </p:cNvSpPr>
          <p:nvPr/>
        </p:nvSpPr>
        <p:spPr>
          <a:xfrm>
            <a:off x="5905500" y="4762500"/>
            <a:ext cx="5391150" cy="1123950"/>
          </a:xfrm>
          <a:prstGeom prst="rect">
            <a:avLst/>
          </a:prstGeom>
          <a:solidFill>
            <a:srgbClr val="0C1B2D"/>
          </a:solidFill>
          <a:ln w="9525">
            <a:solidFill>
              <a:srgbClr val="294562"/>
            </a:solidFill>
            <a:prstDash val="solid"/>
          </a:ln>
        </p:spPr>
      </p:sp>
      <p:sp>
        <p:nvSpPr>
          <p:cNvPr id="35" name="Rectangle 34">
            <a:extLst>
              <a:ext uri="{FF2B5EF4-FFF2-40B4-BE49-F238E27FC236}">
                <a16:creationId xmlns:a16="http://schemas.microsoft.com/office/drawing/2014/main" id="{5A8753F5-488B-41A7-8598-D658DBFFB35F}"/>
              </a:ext>
            </a:extLst>
          </p:cNvPr>
          <p:cNvSpPr>
            <a:spLocks noGrp="1"/>
          </p:cNvSpPr>
          <p:nvPr/>
        </p:nvSpPr>
        <p:spPr>
          <a:xfrm>
            <a:off x="6153150" y="4991100"/>
            <a:ext cx="1619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1">
                <a:solidFill>
                  <a:srgbClr val="FFFFFF"/>
                </a:solidFill>
                <a:latin typeface="Aptos"/>
                <a:ea typeface="Aptos"/>
                <a:cs typeface="Aptos"/>
              </a:defRPr>
            </a:pPr>
            <a:r>
              <a:rPr sz="1163" b="1">
                <a:solidFill>
                  <a:srgbClr val="FFFFFF"/>
                </a:solidFill>
                <a:latin typeface="Aptos"/>
                <a:ea typeface="Aptos"/>
                <a:cs typeface="Aptos"/>
              </a:rPr>
              <a:t>Deployment shape</a:t>
            </a:r>
          </a:p>
        </p:txBody>
      </p:sp>
      <p:sp>
        <p:nvSpPr>
          <p:cNvPr id="36" name="Rectangle 35">
            <a:extLst>
              <a:ext uri="{FF2B5EF4-FFF2-40B4-BE49-F238E27FC236}">
                <a16:creationId xmlns:a16="http://schemas.microsoft.com/office/drawing/2014/main" id="{6C0DD211-1410-43C1-A57F-A602EF1231E6}"/>
              </a:ext>
            </a:extLst>
          </p:cNvPr>
          <p:cNvSpPr>
            <a:spLocks noGrp="1"/>
          </p:cNvSpPr>
          <p:nvPr/>
        </p:nvSpPr>
        <p:spPr>
          <a:xfrm>
            <a:off x="6153150" y="5257800"/>
            <a:ext cx="4781550"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9FB3C8"/>
                </a:solidFill>
                <a:latin typeface="Aptos"/>
                <a:ea typeface="Aptos"/>
                <a:cs typeface="Aptos"/>
              </a:defRPr>
            </a:pPr>
            <a:r>
              <a:rPr sz="938" b="0">
                <a:solidFill>
                  <a:srgbClr val="9FB3C8"/>
                </a:solidFill>
                <a:latin typeface="Aptos"/>
                <a:ea typeface="Aptos"/>
                <a:cs typeface="Aptos"/>
              </a:rPr>
              <a:t>The repo ships with Dockerfiles for both services and a deploy script that publishes `sightsync-api` and `sightsync-web` to Google Cloud Run. That makes the project lightweight to demo and easy to evolve into a hosted MVP.</a:t>
            </a:r>
          </a:p>
        </p:txBody>
      </p:sp>
      <p:sp>
        <p:nvSpPr>
          <p:cNvPr id="37" name="Rectangle 36">
            <a:extLst>
              <a:ext uri="{FF2B5EF4-FFF2-40B4-BE49-F238E27FC236}">
                <a16:creationId xmlns:a16="http://schemas.microsoft.com/office/drawing/2014/main" id="{7B6AE9EA-F134-44BC-B3DF-423DA86D8392}"/>
              </a:ext>
            </a:extLst>
          </p:cNvPr>
          <p:cNvSpPr>
            <a:spLocks noGrp="1"/>
          </p:cNvSpPr>
          <p:nvPr/>
        </p:nvSpPr>
        <p:spPr>
          <a:xfrm>
            <a:off x="609600" y="6515100"/>
            <a:ext cx="10972800" cy="9525"/>
          </a:xfrm>
          <a:prstGeom prst="rect">
            <a:avLst/>
          </a:prstGeom>
          <a:solidFill>
            <a:srgbClr val="294562"/>
          </a:solidFill>
          <a:ln w="0">
            <a:solidFill>
              <a:srgbClr val="000000">
                <a:alpha val="0"/>
              </a:srgbClr>
            </a:solidFill>
            <a:prstDash val="solid"/>
          </a:ln>
        </p:spPr>
      </p:sp>
      <p:sp>
        <p:nvSpPr>
          <p:cNvPr id="38" name="Rectangle 37">
            <a:extLst>
              <a:ext uri="{FF2B5EF4-FFF2-40B4-BE49-F238E27FC236}">
                <a16:creationId xmlns:a16="http://schemas.microsoft.com/office/drawing/2014/main" id="{5B5006D0-D6D8-4363-812A-161C9664F22A}"/>
              </a:ext>
            </a:extLst>
          </p:cNvPr>
          <p:cNvSpPr>
            <a:spLocks noGrp="1"/>
          </p:cNvSpPr>
          <p:nvPr/>
        </p:nvSpPr>
        <p:spPr>
          <a:xfrm>
            <a:off x="609600" y="6581775"/>
            <a:ext cx="93345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00" b="0">
                <a:solidFill>
                  <a:srgbClr val="7E96B0"/>
                </a:solidFill>
                <a:latin typeface="Aptos"/>
                <a:ea typeface="Aptos"/>
                <a:cs typeface="Aptos"/>
              </a:defRPr>
            </a:pPr>
            <a:r>
              <a:rPr sz="600" b="0">
                <a:solidFill>
                  <a:srgbClr val="7E96B0"/>
                </a:solidFill>
                <a:latin typeface="Aptos"/>
                <a:ea typeface="Aptos"/>
                <a:cs typeface="Aptos"/>
              </a:rPr>
              <a:t>Source: backend/main.py, backend/app/routers/image_analysis.py, backend/app/services/gemini_service.py, scripts/deploy-cloud-run.sh</a:t>
            </a:r>
          </a:p>
        </p:txBody>
      </p:sp>
      <p:sp>
        <p:nvSpPr>
          <p:cNvPr id="39" name="Rectangle 38">
            <a:extLst>
              <a:ext uri="{FF2B5EF4-FFF2-40B4-BE49-F238E27FC236}">
                <a16:creationId xmlns:a16="http://schemas.microsoft.com/office/drawing/2014/main" id="{B6146909-1450-4774-BA6A-3DDAD1773FE7}"/>
              </a:ext>
            </a:extLst>
          </p:cNvPr>
          <p:cNvSpPr>
            <a:spLocks noGrp="1"/>
          </p:cNvSpPr>
          <p:nvPr/>
        </p:nvSpPr>
        <p:spPr>
          <a:xfrm>
            <a:off x="11125200" y="6543675"/>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9FB3C8"/>
                </a:solidFill>
                <a:latin typeface="Aptos Display"/>
                <a:ea typeface="Aptos Display"/>
                <a:cs typeface="Aptos Display"/>
              </a:defRPr>
            </a:pPr>
            <a:r>
              <a:rPr sz="825" b="1">
                <a:solidFill>
                  <a:srgbClr val="9FB3C8"/>
                </a:solidFill>
                <a:latin typeface="Aptos Display"/>
                <a:ea typeface="Aptos Display"/>
                <a:cs typeface="Aptos Display"/>
              </a:rPr>
              <a:t>05</a:t>
            </a:r>
          </a:p>
        </p:txBody>
      </p:sp>
    </p:spTree>
    <p:extLst>
      <p:ext uri="{BB962C8B-B14F-4D97-AF65-F5344CB8AC3E}">
        <p14:creationId xmlns:p14="http://schemas.microsoft.com/office/powerpoint/2010/main" val="665838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52D4A03-5A27-4EC7-B7C2-239E38014D91}"/>
              </a:ext>
            </a:extLst>
          </p:cNvPr>
          <p:cNvSpPr>
            <a:spLocks noGrp="1"/>
          </p:cNvSpPr>
          <p:nvPr/>
        </p:nvSpPr>
        <p:spPr>
          <a:xfrm>
            <a:off x="0" y="0"/>
            <a:ext cx="12192000" cy="6858000"/>
          </a:xfrm>
          <a:prstGeom prst="rect">
            <a:avLst/>
          </a:prstGeom>
          <a:solidFill>
            <a:srgbClr val="07111F"/>
          </a:solidFill>
          <a:ln w="0">
            <a:solidFill>
              <a:srgbClr val="000000">
                <a:alpha val="0"/>
              </a:srgbClr>
            </a:solidFill>
            <a:prstDash val="solid"/>
          </a:ln>
        </p:spPr>
      </p:sp>
      <p:sp>
        <p:nvSpPr>
          <p:cNvPr id="2" name="Rectangle 1">
            <a:extLst>
              <a:ext uri="{FF2B5EF4-FFF2-40B4-BE49-F238E27FC236}">
                <a16:creationId xmlns:a16="http://schemas.microsoft.com/office/drawing/2014/main" id="{A54A60C2-6961-45AB-86B2-7F4F7182070C}"/>
              </a:ext>
            </a:extLst>
          </p:cNvPr>
          <p:cNvSpPr>
            <a:spLocks noGrp="1"/>
          </p:cNvSpPr>
          <p:nvPr/>
        </p:nvSpPr>
        <p:spPr>
          <a:xfrm>
            <a:off x="0" y="0"/>
            <a:ext cx="12192000" cy="1790700"/>
          </a:xfrm>
          <a:prstGeom prst="rect">
            <a:avLst/>
          </a:prstGeom>
          <a:solidFill>
            <a:srgbClr val="0A1730"/>
          </a:solidFill>
          <a:ln w="0">
            <a:solidFill>
              <a:srgbClr val="000000">
                <a:alpha val="0"/>
              </a:srgbClr>
            </a:solidFill>
            <a:prstDash val="solid"/>
          </a:ln>
        </p:spPr>
      </p:sp>
      <p:sp>
        <p:nvSpPr>
          <p:cNvPr id="3" name="Rectangle 2">
            <a:extLst>
              <a:ext uri="{FF2B5EF4-FFF2-40B4-BE49-F238E27FC236}">
                <a16:creationId xmlns:a16="http://schemas.microsoft.com/office/drawing/2014/main" id="{EECE5682-F5DA-48F7-8429-816D6FFD8CB8}"/>
              </a:ext>
            </a:extLst>
          </p:cNvPr>
          <p:cNvSpPr>
            <a:spLocks noGrp="1"/>
          </p:cNvSpPr>
          <p:nvPr/>
        </p:nvSpPr>
        <p:spPr>
          <a:xfrm>
            <a:off x="9144000" y="0"/>
            <a:ext cx="3048000" cy="6858000"/>
          </a:xfrm>
          <a:prstGeom prst="rect">
            <a:avLst/>
          </a:prstGeom>
          <a:solidFill>
            <a:srgbClr val="081523"/>
          </a:solidFill>
          <a:ln w="0">
            <a:solidFill>
              <a:srgbClr val="000000">
                <a:alpha val="0"/>
              </a:srgbClr>
            </a:solidFill>
            <a:prstDash val="solid"/>
          </a:ln>
        </p:spPr>
      </p:sp>
      <p:sp>
        <p:nvSpPr>
          <p:cNvPr id="4" name="Rectangle 3">
            <a:extLst>
              <a:ext uri="{FF2B5EF4-FFF2-40B4-BE49-F238E27FC236}">
                <a16:creationId xmlns:a16="http://schemas.microsoft.com/office/drawing/2014/main" id="{ACE908E1-4FDF-4075-AF36-B5B5C92C9DEE}"/>
              </a:ext>
            </a:extLst>
          </p:cNvPr>
          <p:cNvSpPr>
            <a:spLocks noGrp="1"/>
          </p:cNvSpPr>
          <p:nvPr/>
        </p:nvSpPr>
        <p:spPr>
          <a:xfrm>
            <a:off x="609600" y="457200"/>
            <a:ext cx="95250" cy="95250"/>
          </a:xfrm>
          <a:prstGeom prst="rect">
            <a:avLst/>
          </a:prstGeom>
          <a:solidFill>
            <a:srgbClr val="30D5C8"/>
          </a:solidFill>
          <a:ln w="0">
            <a:solidFill>
              <a:srgbClr val="000000">
                <a:alpha val="0"/>
              </a:srgbClr>
            </a:solidFill>
            <a:prstDash val="solid"/>
          </a:ln>
        </p:spPr>
      </p:sp>
      <p:sp>
        <p:nvSpPr>
          <p:cNvPr id="5" name="Rectangle 4">
            <a:extLst>
              <a:ext uri="{FF2B5EF4-FFF2-40B4-BE49-F238E27FC236}">
                <a16:creationId xmlns:a16="http://schemas.microsoft.com/office/drawing/2014/main" id="{6EA93623-FBEC-4A4F-AA14-570C1A0E57D8}"/>
              </a:ext>
            </a:extLst>
          </p:cNvPr>
          <p:cNvSpPr>
            <a:spLocks noGrp="1"/>
          </p:cNvSpPr>
          <p:nvPr/>
        </p:nvSpPr>
        <p:spPr>
          <a:xfrm>
            <a:off x="800100" y="409575"/>
            <a:ext cx="2476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1">
                <a:solidFill>
                  <a:srgbClr val="9FB3C8"/>
                </a:solidFill>
                <a:latin typeface="Aptos"/>
                <a:ea typeface="Aptos"/>
                <a:cs typeface="Aptos"/>
              </a:defRPr>
            </a:pPr>
            <a:r>
              <a:rPr sz="750" b="1">
                <a:solidFill>
                  <a:srgbClr val="9FB3C8"/>
                </a:solidFill>
                <a:latin typeface="Aptos"/>
                <a:ea typeface="Aptos"/>
                <a:cs typeface="Aptos"/>
              </a:rPr>
              <a:t>WHERE IT GOES NEXT</a:t>
            </a:r>
          </a:p>
        </p:txBody>
      </p:sp>
      <p:sp>
        <p:nvSpPr>
          <p:cNvPr id="6" name="Rectangle 5">
            <a:extLst>
              <a:ext uri="{FF2B5EF4-FFF2-40B4-BE49-F238E27FC236}">
                <a16:creationId xmlns:a16="http://schemas.microsoft.com/office/drawing/2014/main" id="{529478F6-C573-47AA-967B-FD1A32D514F1}"/>
              </a:ext>
            </a:extLst>
          </p:cNvPr>
          <p:cNvSpPr>
            <a:spLocks noGrp="1"/>
          </p:cNvSpPr>
          <p:nvPr/>
        </p:nvSpPr>
        <p:spPr>
          <a:xfrm>
            <a:off x="609600" y="742950"/>
            <a:ext cx="7239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75" b="1">
                <a:solidFill>
                  <a:srgbClr val="FFFFFF"/>
                </a:solidFill>
                <a:latin typeface="Aptos Display"/>
                <a:ea typeface="Aptos Display"/>
                <a:cs typeface="Aptos Display"/>
              </a:defRPr>
            </a:pPr>
            <a:r>
              <a:rPr sz="2475" b="1">
                <a:solidFill>
                  <a:srgbClr val="FFFFFF"/>
                </a:solidFill>
                <a:latin typeface="Aptos Display"/>
                <a:ea typeface="Aptos Display"/>
                <a:cs typeface="Aptos Display"/>
              </a:rPr>
              <a:t>SightSync already has a credible MVP story, and the next steps are easy to explain.</a:t>
            </a:r>
          </a:p>
        </p:txBody>
      </p:sp>
      <p:sp>
        <p:nvSpPr>
          <p:cNvPr id="7" name="Rectangle 6">
            <a:extLst>
              <a:ext uri="{FF2B5EF4-FFF2-40B4-BE49-F238E27FC236}">
                <a16:creationId xmlns:a16="http://schemas.microsoft.com/office/drawing/2014/main" id="{D393E563-0992-4E12-8775-B59446BA1C73}"/>
              </a:ext>
            </a:extLst>
          </p:cNvPr>
          <p:cNvSpPr>
            <a:spLocks noGrp="1"/>
          </p:cNvSpPr>
          <p:nvPr/>
        </p:nvSpPr>
        <p:spPr>
          <a:xfrm>
            <a:off x="609600" y="1752600"/>
            <a:ext cx="5391150" cy="800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0">
                <a:solidFill>
                  <a:srgbClr val="9FB3C8"/>
                </a:solidFill>
                <a:latin typeface="Aptos"/>
                <a:ea typeface="Aptos"/>
                <a:cs typeface="Aptos"/>
              </a:defRPr>
            </a:pPr>
            <a:r>
              <a:rPr sz="1163" b="0">
                <a:solidFill>
                  <a:srgbClr val="9FB3C8"/>
                </a:solidFill>
                <a:latin typeface="Aptos"/>
                <a:ea typeface="Aptos"/>
                <a:cs typeface="Aptos"/>
              </a:rPr>
              <a:t>The project is already clear about its lane: scene description and short scene Q&amp;A. That focus is a strength. It means the roadmap can stay grounded in accessibility instead of drifting into vague 'AI assistant' territory.</a:t>
            </a:r>
          </a:p>
        </p:txBody>
      </p:sp>
      <p:sp>
        <p:nvSpPr>
          <p:cNvPr id="8" name="Rectangle 7">
            <a:extLst>
              <a:ext uri="{FF2B5EF4-FFF2-40B4-BE49-F238E27FC236}">
                <a16:creationId xmlns:a16="http://schemas.microsoft.com/office/drawing/2014/main" id="{50545164-5D90-41FA-8794-4AF6555338DB}"/>
              </a:ext>
            </a:extLst>
          </p:cNvPr>
          <p:cNvSpPr>
            <a:spLocks noGrp="1"/>
          </p:cNvSpPr>
          <p:nvPr/>
        </p:nvSpPr>
        <p:spPr>
          <a:xfrm>
            <a:off x="609600" y="2857500"/>
            <a:ext cx="2628900" cy="2800350"/>
          </a:xfrm>
          <a:prstGeom prst="rect">
            <a:avLst/>
          </a:prstGeom>
          <a:solidFill>
            <a:srgbClr val="0C1B2D"/>
          </a:solidFill>
          <a:ln w="9525">
            <a:solidFill>
              <a:srgbClr val="294562"/>
            </a:solidFill>
            <a:prstDash val="solid"/>
          </a:ln>
        </p:spPr>
      </p:sp>
      <p:sp>
        <p:nvSpPr>
          <p:cNvPr id="9" name="Rectangle 8">
            <a:extLst>
              <a:ext uri="{FF2B5EF4-FFF2-40B4-BE49-F238E27FC236}">
                <a16:creationId xmlns:a16="http://schemas.microsoft.com/office/drawing/2014/main" id="{236EAB72-E0E4-4BCB-97B0-43E124288769}"/>
              </a:ext>
            </a:extLst>
          </p:cNvPr>
          <p:cNvSpPr>
            <a:spLocks noGrp="1"/>
          </p:cNvSpPr>
          <p:nvPr/>
        </p:nvSpPr>
        <p:spPr>
          <a:xfrm>
            <a:off x="857250" y="3105150"/>
            <a:ext cx="1524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FFFFFF"/>
                </a:solidFill>
                <a:latin typeface="Aptos"/>
                <a:ea typeface="Aptos"/>
                <a:cs typeface="Aptos"/>
              </a:defRPr>
            </a:pPr>
            <a:r>
              <a:rPr sz="1200" b="1">
                <a:solidFill>
                  <a:srgbClr val="FFFFFF"/>
                </a:solidFill>
                <a:latin typeface="Aptos"/>
                <a:ea typeface="Aptos"/>
                <a:cs typeface="Aptos"/>
              </a:rPr>
              <a:t>Best for today</a:t>
            </a:r>
          </a:p>
        </p:txBody>
      </p:sp>
      <p:sp>
        <p:nvSpPr>
          <p:cNvPr id="10" name="Rectangle 9">
            <a:extLst>
              <a:ext uri="{FF2B5EF4-FFF2-40B4-BE49-F238E27FC236}">
                <a16:creationId xmlns:a16="http://schemas.microsoft.com/office/drawing/2014/main" id="{03072756-118E-4FDE-8518-0F10412C4DD2}"/>
              </a:ext>
            </a:extLst>
          </p:cNvPr>
          <p:cNvSpPr>
            <a:spLocks noGrp="1"/>
          </p:cNvSpPr>
          <p:nvPr/>
        </p:nvSpPr>
        <p:spPr>
          <a:xfrm>
            <a:off x="857250" y="3524250"/>
            <a:ext cx="1714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4DA3FF"/>
                </a:solidFill>
                <a:latin typeface="Aptos"/>
                <a:ea typeface="Aptos"/>
                <a:cs typeface="Aptos"/>
              </a:defRPr>
            </a:pPr>
            <a:r>
              <a:rPr sz="863" b="0">
                <a:solidFill>
                  <a:srgbClr val="4DA3FF"/>
                </a:solidFill>
                <a:latin typeface="Aptos"/>
                <a:ea typeface="Aptos"/>
                <a:cs typeface="Aptos"/>
              </a:rPr>
              <a:t>• immediate scene summaries</a:t>
            </a:r>
          </a:p>
        </p:txBody>
      </p:sp>
      <p:sp>
        <p:nvSpPr>
          <p:cNvPr id="11" name="Rectangle 10">
            <a:extLst>
              <a:ext uri="{FF2B5EF4-FFF2-40B4-BE49-F238E27FC236}">
                <a16:creationId xmlns:a16="http://schemas.microsoft.com/office/drawing/2014/main" id="{2A9DA3CD-33E2-42B2-8EEA-B27786D2314A}"/>
              </a:ext>
            </a:extLst>
          </p:cNvPr>
          <p:cNvSpPr>
            <a:spLocks noGrp="1"/>
          </p:cNvSpPr>
          <p:nvPr/>
        </p:nvSpPr>
        <p:spPr>
          <a:xfrm>
            <a:off x="857250" y="3810000"/>
            <a:ext cx="1714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4DA3FF"/>
                </a:solidFill>
                <a:latin typeface="Aptos"/>
                <a:ea typeface="Aptos"/>
                <a:cs typeface="Aptos"/>
              </a:defRPr>
            </a:pPr>
            <a:r>
              <a:rPr sz="863" b="0">
                <a:solidFill>
                  <a:srgbClr val="4DA3FF"/>
                </a:solidFill>
                <a:latin typeface="Aptos"/>
                <a:ea typeface="Aptos"/>
                <a:cs typeface="Aptos"/>
              </a:rPr>
              <a:t>• critical hazard cues</a:t>
            </a:r>
          </a:p>
        </p:txBody>
      </p:sp>
      <p:sp>
        <p:nvSpPr>
          <p:cNvPr id="12" name="Rectangle 11">
            <a:extLst>
              <a:ext uri="{FF2B5EF4-FFF2-40B4-BE49-F238E27FC236}">
                <a16:creationId xmlns:a16="http://schemas.microsoft.com/office/drawing/2014/main" id="{570D50B9-229C-4207-9C57-0BE9140ED09D}"/>
              </a:ext>
            </a:extLst>
          </p:cNvPr>
          <p:cNvSpPr>
            <a:spLocks noGrp="1"/>
          </p:cNvSpPr>
          <p:nvPr/>
        </p:nvSpPr>
        <p:spPr>
          <a:xfrm>
            <a:off x="857250" y="4095750"/>
            <a:ext cx="1905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4DA3FF"/>
                </a:solidFill>
                <a:latin typeface="Aptos"/>
                <a:ea typeface="Aptos"/>
                <a:cs typeface="Aptos"/>
              </a:defRPr>
            </a:pPr>
            <a:r>
              <a:rPr sz="863" b="0">
                <a:solidFill>
                  <a:srgbClr val="4DA3FF"/>
                </a:solidFill>
                <a:latin typeface="Aptos"/>
                <a:ea typeface="Aptos"/>
                <a:cs typeface="Aptos"/>
              </a:rPr>
              <a:t>• object and layout questions</a:t>
            </a:r>
          </a:p>
        </p:txBody>
      </p:sp>
      <p:sp>
        <p:nvSpPr>
          <p:cNvPr id="13" name="Rectangle 12">
            <a:extLst>
              <a:ext uri="{FF2B5EF4-FFF2-40B4-BE49-F238E27FC236}">
                <a16:creationId xmlns:a16="http://schemas.microsoft.com/office/drawing/2014/main" id="{6C5F70E3-A100-4594-B2ED-D3B69D2A0C37}"/>
              </a:ext>
            </a:extLst>
          </p:cNvPr>
          <p:cNvSpPr>
            <a:spLocks noGrp="1"/>
          </p:cNvSpPr>
          <p:nvPr/>
        </p:nvSpPr>
        <p:spPr>
          <a:xfrm>
            <a:off x="857250" y="438150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63" b="0">
                <a:solidFill>
                  <a:srgbClr val="4DA3FF"/>
                </a:solidFill>
                <a:latin typeface="Aptos"/>
                <a:ea typeface="Aptos"/>
                <a:cs typeface="Aptos"/>
              </a:defRPr>
            </a:pPr>
            <a:r>
              <a:rPr sz="863" b="0">
                <a:solidFill>
                  <a:srgbClr val="4DA3FF"/>
                </a:solidFill>
                <a:latin typeface="Aptos"/>
                <a:ea typeface="Aptos"/>
                <a:cs typeface="Aptos"/>
              </a:rPr>
              <a:t>• quick hosted demos</a:t>
            </a:r>
          </a:p>
        </p:txBody>
      </p:sp>
      <p:sp>
        <p:nvSpPr>
          <p:cNvPr id="14" name="Rectangle 13">
            <a:extLst>
              <a:ext uri="{FF2B5EF4-FFF2-40B4-BE49-F238E27FC236}">
                <a16:creationId xmlns:a16="http://schemas.microsoft.com/office/drawing/2014/main" id="{8EDE0050-E5A8-40D1-874B-9A188C166398}"/>
              </a:ext>
            </a:extLst>
          </p:cNvPr>
          <p:cNvSpPr>
            <a:spLocks noGrp="1"/>
          </p:cNvSpPr>
          <p:nvPr/>
        </p:nvSpPr>
        <p:spPr>
          <a:xfrm>
            <a:off x="857250" y="4762500"/>
            <a:ext cx="203835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9FB3C8"/>
                </a:solidFill>
                <a:latin typeface="Aptos"/>
                <a:ea typeface="Aptos"/>
                <a:cs typeface="Aptos"/>
              </a:defRPr>
            </a:pPr>
            <a:r>
              <a:rPr sz="825" b="0">
                <a:solidFill>
                  <a:srgbClr val="9FB3C8"/>
                </a:solidFill>
                <a:latin typeface="Aptos"/>
                <a:ea typeface="Aptos"/>
                <a:cs typeface="Aptos"/>
              </a:rPr>
              <a:t>In other words: it is strong as an assistive interpretation layer that helps the user understand a moment, then decide what to do next.</a:t>
            </a:r>
          </a:p>
        </p:txBody>
      </p:sp>
      <p:sp>
        <p:nvSpPr>
          <p:cNvPr id="15" name="Rectangle 14">
            <a:extLst>
              <a:ext uri="{FF2B5EF4-FFF2-40B4-BE49-F238E27FC236}">
                <a16:creationId xmlns:a16="http://schemas.microsoft.com/office/drawing/2014/main" id="{275759E7-CE8C-4411-B91F-9B0EC00A63CB}"/>
              </a:ext>
            </a:extLst>
          </p:cNvPr>
          <p:cNvSpPr>
            <a:spLocks noGrp="1"/>
          </p:cNvSpPr>
          <p:nvPr/>
        </p:nvSpPr>
        <p:spPr>
          <a:xfrm>
            <a:off x="3448050" y="2857500"/>
            <a:ext cx="3581400" cy="2952750"/>
          </a:xfrm>
          <a:prstGeom prst="rect">
            <a:avLst/>
          </a:prstGeom>
          <a:solidFill>
            <a:srgbClr val="0C1B2D"/>
          </a:solidFill>
          <a:ln w="9525">
            <a:solidFill>
              <a:srgbClr val="294562"/>
            </a:solidFill>
            <a:prstDash val="solid"/>
          </a:ln>
        </p:spPr>
      </p:sp>
      <p:sp>
        <p:nvSpPr>
          <p:cNvPr id="16" name="Rectangle 15">
            <a:extLst>
              <a:ext uri="{FF2B5EF4-FFF2-40B4-BE49-F238E27FC236}">
                <a16:creationId xmlns:a16="http://schemas.microsoft.com/office/drawing/2014/main" id="{66F76F06-737A-49C7-AA05-EA4612071D58}"/>
              </a:ext>
            </a:extLst>
          </p:cNvPr>
          <p:cNvSpPr>
            <a:spLocks noGrp="1"/>
          </p:cNvSpPr>
          <p:nvPr/>
        </p:nvSpPr>
        <p:spPr>
          <a:xfrm>
            <a:off x="3695700" y="3105150"/>
            <a:ext cx="1809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FFFFFF"/>
                </a:solidFill>
                <a:latin typeface="Aptos"/>
                <a:ea typeface="Aptos"/>
                <a:cs typeface="Aptos"/>
              </a:defRPr>
            </a:pPr>
            <a:r>
              <a:rPr sz="1200" b="1">
                <a:solidFill>
                  <a:srgbClr val="FFFFFF"/>
                </a:solidFill>
                <a:latin typeface="Aptos"/>
                <a:ea typeface="Aptos"/>
                <a:cs typeface="Aptos"/>
              </a:rPr>
              <a:t>Next MVP milestones</a:t>
            </a:r>
          </a:p>
        </p:txBody>
      </p:sp>
      <p:sp>
        <p:nvSpPr>
          <p:cNvPr id="17" name="Rectangle 16">
            <a:extLst>
              <a:ext uri="{FF2B5EF4-FFF2-40B4-BE49-F238E27FC236}">
                <a16:creationId xmlns:a16="http://schemas.microsoft.com/office/drawing/2014/main" id="{7A477F42-D9CA-44E0-9A79-D17BDB0AA73B}"/>
              </a:ext>
            </a:extLst>
          </p:cNvPr>
          <p:cNvSpPr>
            <a:spLocks noGrp="1"/>
          </p:cNvSpPr>
          <p:nvPr/>
        </p:nvSpPr>
        <p:spPr>
          <a:xfrm>
            <a:off x="3695700" y="352425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30D5C8"/>
                </a:solidFill>
                <a:latin typeface="Aptos"/>
                <a:ea typeface="Aptos"/>
                <a:cs typeface="Aptos"/>
              </a:defRPr>
            </a:pPr>
            <a:r>
              <a:rPr sz="900" b="1">
                <a:solidFill>
                  <a:srgbClr val="30D5C8"/>
                </a:solidFill>
                <a:latin typeface="Aptos"/>
                <a:ea typeface="Aptos"/>
                <a:cs typeface="Aptos"/>
              </a:rPr>
              <a:t>1. Audio-only mode</a:t>
            </a:r>
          </a:p>
        </p:txBody>
      </p:sp>
      <p:sp>
        <p:nvSpPr>
          <p:cNvPr id="18" name="Rectangle 17">
            <a:extLst>
              <a:ext uri="{FF2B5EF4-FFF2-40B4-BE49-F238E27FC236}">
                <a16:creationId xmlns:a16="http://schemas.microsoft.com/office/drawing/2014/main" id="{37E70DD5-CF3E-489D-88C9-693C925EBE44}"/>
              </a:ext>
            </a:extLst>
          </p:cNvPr>
          <p:cNvSpPr>
            <a:spLocks noGrp="1"/>
          </p:cNvSpPr>
          <p:nvPr/>
        </p:nvSpPr>
        <p:spPr>
          <a:xfrm>
            <a:off x="3695700" y="3733800"/>
            <a:ext cx="2781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9FB3C8"/>
                </a:solidFill>
                <a:latin typeface="Aptos"/>
                <a:ea typeface="Aptos"/>
                <a:cs typeface="Aptos"/>
              </a:defRPr>
            </a:pPr>
            <a:r>
              <a:rPr sz="788" b="0">
                <a:solidFill>
                  <a:srgbClr val="9FB3C8"/>
                </a:solidFill>
                <a:latin typeface="Aptos"/>
                <a:ea typeface="Aptos"/>
                <a:cs typeface="Aptos"/>
              </a:rPr>
              <a:t>Skip the visual UI entirely for headphone-first use.</a:t>
            </a:r>
          </a:p>
        </p:txBody>
      </p:sp>
      <p:sp>
        <p:nvSpPr>
          <p:cNvPr id="19" name="Rectangle 18">
            <a:extLst>
              <a:ext uri="{FF2B5EF4-FFF2-40B4-BE49-F238E27FC236}">
                <a16:creationId xmlns:a16="http://schemas.microsoft.com/office/drawing/2014/main" id="{4F89985B-5917-474B-ACE7-1B9F36B6B0F9}"/>
              </a:ext>
            </a:extLst>
          </p:cNvPr>
          <p:cNvSpPr>
            <a:spLocks noGrp="1"/>
          </p:cNvSpPr>
          <p:nvPr/>
        </p:nvSpPr>
        <p:spPr>
          <a:xfrm>
            <a:off x="3695700" y="411480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30D5C8"/>
                </a:solidFill>
                <a:latin typeface="Aptos"/>
                <a:ea typeface="Aptos"/>
                <a:cs typeface="Aptos"/>
              </a:defRPr>
            </a:pPr>
            <a:r>
              <a:rPr sz="900" b="1">
                <a:solidFill>
                  <a:srgbClr val="30D5C8"/>
                </a:solidFill>
                <a:latin typeface="Aptos"/>
                <a:ea typeface="Aptos"/>
                <a:cs typeface="Aptos"/>
              </a:rPr>
              <a:t>2. Firestore history</a:t>
            </a:r>
          </a:p>
        </p:txBody>
      </p:sp>
      <p:sp>
        <p:nvSpPr>
          <p:cNvPr id="20" name="Rectangle 19">
            <a:extLst>
              <a:ext uri="{FF2B5EF4-FFF2-40B4-BE49-F238E27FC236}">
                <a16:creationId xmlns:a16="http://schemas.microsoft.com/office/drawing/2014/main" id="{29931C2B-4AB0-462E-B50D-E0BEDE9353D0}"/>
              </a:ext>
            </a:extLst>
          </p:cNvPr>
          <p:cNvSpPr>
            <a:spLocks noGrp="1"/>
          </p:cNvSpPr>
          <p:nvPr/>
        </p:nvSpPr>
        <p:spPr>
          <a:xfrm>
            <a:off x="3695700" y="4324350"/>
            <a:ext cx="2781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9FB3C8"/>
                </a:solidFill>
                <a:latin typeface="Aptos"/>
                <a:ea typeface="Aptos"/>
                <a:cs typeface="Aptos"/>
              </a:defRPr>
            </a:pPr>
            <a:r>
              <a:rPr sz="788" b="0">
                <a:solidFill>
                  <a:srgbClr val="9FB3C8"/>
                </a:solidFill>
                <a:latin typeface="Aptos"/>
                <a:ea typeface="Aptos"/>
                <a:cs typeface="Aptos"/>
              </a:rPr>
              <a:t>Keep recent scene descriptions with timestamps for recall.</a:t>
            </a:r>
          </a:p>
        </p:txBody>
      </p:sp>
      <p:sp>
        <p:nvSpPr>
          <p:cNvPr id="21" name="Rectangle 20">
            <a:extLst>
              <a:ext uri="{FF2B5EF4-FFF2-40B4-BE49-F238E27FC236}">
                <a16:creationId xmlns:a16="http://schemas.microsoft.com/office/drawing/2014/main" id="{C36A159B-1870-48B0-BB09-DBDCE39D1F55}"/>
              </a:ext>
            </a:extLst>
          </p:cNvPr>
          <p:cNvSpPr>
            <a:spLocks noGrp="1"/>
          </p:cNvSpPr>
          <p:nvPr/>
        </p:nvSpPr>
        <p:spPr>
          <a:xfrm>
            <a:off x="3695700" y="470535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30D5C8"/>
                </a:solidFill>
                <a:latin typeface="Aptos"/>
                <a:ea typeface="Aptos"/>
                <a:cs typeface="Aptos"/>
              </a:defRPr>
            </a:pPr>
            <a:r>
              <a:rPr sz="900" b="1">
                <a:solidFill>
                  <a:srgbClr val="30D5C8"/>
                </a:solidFill>
                <a:latin typeface="Aptos"/>
                <a:ea typeface="Aptos"/>
                <a:cs typeface="Aptos"/>
              </a:rPr>
              <a:t>3. Optional login</a:t>
            </a:r>
          </a:p>
        </p:txBody>
      </p:sp>
      <p:sp>
        <p:nvSpPr>
          <p:cNvPr id="22" name="Rectangle 21">
            <a:extLst>
              <a:ext uri="{FF2B5EF4-FFF2-40B4-BE49-F238E27FC236}">
                <a16:creationId xmlns:a16="http://schemas.microsoft.com/office/drawing/2014/main" id="{04AD89F8-BA57-42B5-81A3-A4768708CCE1}"/>
              </a:ext>
            </a:extLst>
          </p:cNvPr>
          <p:cNvSpPr>
            <a:spLocks noGrp="1"/>
          </p:cNvSpPr>
          <p:nvPr/>
        </p:nvSpPr>
        <p:spPr>
          <a:xfrm>
            <a:off x="3695700" y="4914900"/>
            <a:ext cx="2781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9FB3C8"/>
                </a:solidFill>
                <a:latin typeface="Aptos"/>
                <a:ea typeface="Aptos"/>
                <a:cs typeface="Aptos"/>
              </a:defRPr>
            </a:pPr>
            <a:r>
              <a:rPr sz="788" b="0">
                <a:solidFill>
                  <a:srgbClr val="9FB3C8"/>
                </a:solidFill>
                <a:latin typeface="Aptos"/>
                <a:ea typeface="Aptos"/>
                <a:cs typeface="Aptos"/>
              </a:rPr>
              <a:t>Save history without blocking anonymous usage.</a:t>
            </a:r>
          </a:p>
        </p:txBody>
      </p:sp>
      <p:sp>
        <p:nvSpPr>
          <p:cNvPr id="23" name="Rectangle 22">
            <a:extLst>
              <a:ext uri="{FF2B5EF4-FFF2-40B4-BE49-F238E27FC236}">
                <a16:creationId xmlns:a16="http://schemas.microsoft.com/office/drawing/2014/main" id="{F2DBD023-4C9E-48C6-B96E-5E92F0E66524}"/>
              </a:ext>
            </a:extLst>
          </p:cNvPr>
          <p:cNvSpPr>
            <a:spLocks noGrp="1"/>
          </p:cNvSpPr>
          <p:nvPr/>
        </p:nvSpPr>
        <p:spPr>
          <a:xfrm>
            <a:off x="3695700" y="523875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30D5C8"/>
                </a:solidFill>
                <a:latin typeface="Aptos"/>
                <a:ea typeface="Aptos"/>
                <a:cs typeface="Aptos"/>
              </a:defRPr>
            </a:pPr>
            <a:r>
              <a:rPr sz="900" b="1">
                <a:solidFill>
                  <a:srgbClr val="30D5C8"/>
                </a:solidFill>
                <a:latin typeface="Aptos"/>
                <a:ea typeface="Aptos"/>
                <a:cs typeface="Aptos"/>
              </a:rPr>
              <a:t>4. Navigation assistance</a:t>
            </a:r>
          </a:p>
        </p:txBody>
      </p:sp>
      <p:sp>
        <p:nvSpPr>
          <p:cNvPr id="24" name="Rectangle 23">
            <a:extLst>
              <a:ext uri="{FF2B5EF4-FFF2-40B4-BE49-F238E27FC236}">
                <a16:creationId xmlns:a16="http://schemas.microsoft.com/office/drawing/2014/main" id="{9A18AFF5-B7A1-4EC4-9183-544D5563CA25}"/>
              </a:ext>
            </a:extLst>
          </p:cNvPr>
          <p:cNvSpPr>
            <a:spLocks noGrp="1"/>
          </p:cNvSpPr>
          <p:nvPr/>
        </p:nvSpPr>
        <p:spPr>
          <a:xfrm>
            <a:off x="3695700" y="5448300"/>
            <a:ext cx="2781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88" b="0">
                <a:solidFill>
                  <a:srgbClr val="9FB3C8"/>
                </a:solidFill>
                <a:latin typeface="Aptos"/>
                <a:ea typeface="Aptos"/>
                <a:cs typeface="Aptos"/>
              </a:defRPr>
            </a:pPr>
            <a:r>
              <a:rPr sz="788" b="0">
                <a:solidFill>
                  <a:srgbClr val="9FB3C8"/>
                </a:solidFill>
                <a:latin typeface="Aptos"/>
                <a:ea typeface="Aptos"/>
                <a:cs typeface="Aptos"/>
              </a:rPr>
              <a:t>Expand obstacle detection and directional suggestions carefully.</a:t>
            </a:r>
          </a:p>
        </p:txBody>
      </p:sp>
      <p:sp>
        <p:nvSpPr>
          <p:cNvPr id="25" name="Rectangle 24">
            <a:extLst>
              <a:ext uri="{FF2B5EF4-FFF2-40B4-BE49-F238E27FC236}">
                <a16:creationId xmlns:a16="http://schemas.microsoft.com/office/drawing/2014/main" id="{A628CCA0-EEDC-485A-82CB-96D207396A4B}"/>
              </a:ext>
            </a:extLst>
          </p:cNvPr>
          <p:cNvSpPr>
            <a:spLocks noGrp="1"/>
          </p:cNvSpPr>
          <p:nvPr/>
        </p:nvSpPr>
        <p:spPr>
          <a:xfrm>
            <a:off x="7239000" y="2857500"/>
            <a:ext cx="4038600" cy="2800350"/>
          </a:xfrm>
          <a:prstGeom prst="rect">
            <a:avLst/>
          </a:prstGeom>
          <a:solidFill>
            <a:srgbClr val="0D1D31"/>
          </a:solidFill>
          <a:ln w="9525">
            <a:solidFill>
              <a:srgbClr val="294562"/>
            </a:solidFill>
            <a:prstDash val="solid"/>
          </a:ln>
        </p:spPr>
      </p:sp>
      <p:sp>
        <p:nvSpPr>
          <p:cNvPr id="26" name="Rectangle 25">
            <a:extLst>
              <a:ext uri="{FF2B5EF4-FFF2-40B4-BE49-F238E27FC236}">
                <a16:creationId xmlns:a16="http://schemas.microsoft.com/office/drawing/2014/main" id="{852E6EB2-9D43-4B16-AE5B-17378C2C0632}"/>
              </a:ext>
            </a:extLst>
          </p:cNvPr>
          <p:cNvSpPr>
            <a:spLocks noGrp="1"/>
          </p:cNvSpPr>
          <p:nvPr/>
        </p:nvSpPr>
        <p:spPr>
          <a:xfrm>
            <a:off x="7486650" y="3105150"/>
            <a:ext cx="1714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FFFFFF"/>
                </a:solidFill>
                <a:latin typeface="Aptos"/>
                <a:ea typeface="Aptos"/>
                <a:cs typeface="Aptos"/>
              </a:defRPr>
            </a:pPr>
            <a:r>
              <a:rPr sz="1200" b="1">
                <a:solidFill>
                  <a:srgbClr val="FFFFFF"/>
                </a:solidFill>
                <a:latin typeface="Aptos"/>
                <a:ea typeface="Aptos"/>
                <a:cs typeface="Aptos"/>
              </a:rPr>
              <a:t>Good presenter framing</a:t>
            </a:r>
          </a:p>
        </p:txBody>
      </p:sp>
      <p:sp>
        <p:nvSpPr>
          <p:cNvPr id="27" name="Rectangle 26">
            <a:extLst>
              <a:ext uri="{FF2B5EF4-FFF2-40B4-BE49-F238E27FC236}">
                <a16:creationId xmlns:a16="http://schemas.microsoft.com/office/drawing/2014/main" id="{B2A19046-17EE-486C-8727-724782983B25}"/>
              </a:ext>
            </a:extLst>
          </p:cNvPr>
          <p:cNvSpPr>
            <a:spLocks noGrp="1"/>
          </p:cNvSpPr>
          <p:nvPr/>
        </p:nvSpPr>
        <p:spPr>
          <a:xfrm>
            <a:off x="7486650" y="3486150"/>
            <a:ext cx="33909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9FB3C8"/>
                </a:solidFill>
                <a:latin typeface="Aptos"/>
                <a:ea typeface="Aptos"/>
                <a:cs typeface="Aptos"/>
              </a:defRPr>
            </a:pPr>
            <a:r>
              <a:rPr sz="975" b="0">
                <a:solidFill>
                  <a:srgbClr val="9FB3C8"/>
                </a:solidFill>
                <a:latin typeface="Aptos"/>
                <a:ea typeface="Aptos"/>
                <a:cs typeface="Aptos"/>
              </a:rPr>
              <a:t>If you are presenting this project, the strongest line is simple: SightSync is meant to give blind and low-vision users immediate spoken context from the world in front of them, with as little interface friction as possible.</a:t>
            </a:r>
          </a:p>
        </p:txBody>
      </p:sp>
      <p:sp>
        <p:nvSpPr>
          <p:cNvPr id="28" name="Rectangle 27">
            <a:extLst>
              <a:ext uri="{FF2B5EF4-FFF2-40B4-BE49-F238E27FC236}">
                <a16:creationId xmlns:a16="http://schemas.microsoft.com/office/drawing/2014/main" id="{49AE014B-AFB9-4E66-A02E-744497BE3DE3}"/>
              </a:ext>
            </a:extLst>
          </p:cNvPr>
          <p:cNvSpPr>
            <a:spLocks noGrp="1"/>
          </p:cNvSpPr>
          <p:nvPr/>
        </p:nvSpPr>
        <p:spPr>
          <a:xfrm>
            <a:off x="7486650" y="4610100"/>
            <a:ext cx="3390900" cy="666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C1CFDD"/>
                </a:solidFill>
                <a:latin typeface="Aptos"/>
                <a:ea typeface="Aptos"/>
                <a:cs typeface="Aptos"/>
              </a:defRPr>
            </a:pPr>
            <a:r>
              <a:rPr sz="975" b="0">
                <a:solidFill>
                  <a:srgbClr val="C1CFDD"/>
                </a:solidFill>
                <a:latin typeface="Aptos"/>
                <a:ea typeface="Aptos"/>
                <a:cs typeface="Aptos"/>
              </a:rPr>
              <a:t>That framing keeps the deck honest. It positions the app as assistive and practical, not fully autonomous, while still making the technical work feel ambitious and real.</a:t>
            </a:r>
          </a:p>
        </p:txBody>
      </p:sp>
      <p:sp>
        <p:nvSpPr>
          <p:cNvPr id="29" name="Rectangle 28">
            <a:extLst>
              <a:ext uri="{FF2B5EF4-FFF2-40B4-BE49-F238E27FC236}">
                <a16:creationId xmlns:a16="http://schemas.microsoft.com/office/drawing/2014/main" id="{507FA009-7A4B-4B36-9224-2A422342E86A}"/>
              </a:ext>
            </a:extLst>
          </p:cNvPr>
          <p:cNvSpPr>
            <a:spLocks noGrp="1"/>
          </p:cNvSpPr>
          <p:nvPr/>
        </p:nvSpPr>
        <p:spPr>
          <a:xfrm>
            <a:off x="609600" y="6515100"/>
            <a:ext cx="10972800" cy="9525"/>
          </a:xfrm>
          <a:prstGeom prst="rect">
            <a:avLst/>
          </a:prstGeom>
          <a:solidFill>
            <a:srgbClr val="294562"/>
          </a:solidFill>
          <a:ln w="0">
            <a:solidFill>
              <a:srgbClr val="000000">
                <a:alpha val="0"/>
              </a:srgbClr>
            </a:solidFill>
            <a:prstDash val="solid"/>
          </a:ln>
        </p:spPr>
      </p:sp>
      <p:sp>
        <p:nvSpPr>
          <p:cNvPr id="30" name="Rectangle 29">
            <a:extLst>
              <a:ext uri="{FF2B5EF4-FFF2-40B4-BE49-F238E27FC236}">
                <a16:creationId xmlns:a16="http://schemas.microsoft.com/office/drawing/2014/main" id="{8051E970-CA7D-4A8E-AB63-1F0407633795}"/>
              </a:ext>
            </a:extLst>
          </p:cNvPr>
          <p:cNvSpPr>
            <a:spLocks noGrp="1"/>
          </p:cNvSpPr>
          <p:nvPr/>
        </p:nvSpPr>
        <p:spPr>
          <a:xfrm>
            <a:off x="609600" y="6581775"/>
            <a:ext cx="93345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00" b="0">
                <a:solidFill>
                  <a:srgbClr val="7E96B0"/>
                </a:solidFill>
                <a:latin typeface="Aptos"/>
                <a:ea typeface="Aptos"/>
                <a:cs typeface="Aptos"/>
              </a:defRPr>
            </a:pPr>
            <a:r>
              <a:rPr sz="600" b="0">
                <a:solidFill>
                  <a:srgbClr val="7E96B0"/>
                </a:solidFill>
                <a:latin typeface="Aptos"/>
                <a:ea typeface="Aptos"/>
                <a:cs typeface="Aptos"/>
              </a:rPr>
              <a:t>Source: README.md suggested next MVP milestone section and current frontend/backend implementation</a:t>
            </a:r>
          </a:p>
        </p:txBody>
      </p:sp>
      <p:sp>
        <p:nvSpPr>
          <p:cNvPr id="31" name="Rectangle 30">
            <a:extLst>
              <a:ext uri="{FF2B5EF4-FFF2-40B4-BE49-F238E27FC236}">
                <a16:creationId xmlns:a16="http://schemas.microsoft.com/office/drawing/2014/main" id="{F8332B1D-FD24-4CDA-B5C0-E80E08263E0F}"/>
              </a:ext>
            </a:extLst>
          </p:cNvPr>
          <p:cNvSpPr>
            <a:spLocks noGrp="1"/>
          </p:cNvSpPr>
          <p:nvPr/>
        </p:nvSpPr>
        <p:spPr>
          <a:xfrm>
            <a:off x="11125200" y="6543675"/>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1">
                <a:solidFill>
                  <a:srgbClr val="9FB3C8"/>
                </a:solidFill>
                <a:latin typeface="Aptos Display"/>
                <a:ea typeface="Aptos Display"/>
                <a:cs typeface="Aptos Display"/>
              </a:defRPr>
            </a:pPr>
            <a:r>
              <a:rPr sz="825" b="1">
                <a:solidFill>
                  <a:srgbClr val="9FB3C8"/>
                </a:solidFill>
                <a:latin typeface="Aptos Display"/>
                <a:ea typeface="Aptos Display"/>
                <a:cs typeface="Aptos Display"/>
              </a:rPr>
              <a:t>06</a:t>
            </a:r>
          </a:p>
        </p:txBody>
      </p:sp>
    </p:spTree>
    <p:extLst>
      <p:ext uri="{BB962C8B-B14F-4D97-AF65-F5344CB8AC3E}">
        <p14:creationId xmlns:p14="http://schemas.microsoft.com/office/powerpoint/2010/main" val="72222460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1375</Words>
  <Application>Microsoft Macintosh PowerPoint</Application>
  <DocSecurity>0</DocSecurity>
  <PresentationFormat>Widescreen</PresentationFormat>
  <Paragraphs>148</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Bardh Hasani</cp:lastModifiedBy>
  <cp:revision>1</cp:revision>
  <dcterms:created xsi:type="dcterms:W3CDTF">2026-05-16T13:34:55Z</dcterms:created>
  <dcterms:modified xsi:type="dcterms:W3CDTF">2026-05-16T13:37:54Z</dcterms:modified>
</cp:coreProperties>
</file>